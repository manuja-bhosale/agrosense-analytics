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DBC6F8F-32F2-430C-9113-CF75C9AD348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B64ED7B-F480-4AEA-97E8-E2D246BCD71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9D2F7D6-39E7-47C7-B2BF-4ACD5320468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1D5D504-C8A4-4E7B-8BE4-A9042D2E03E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7875C32-5F0B-47CA-AD36-E3AEED88A84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3F8B365-1D7E-48B4-9DFF-0A43BBEEFED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6F869E2-FA31-4481-9CB3-E7055F8A1BC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C1B7490-8624-4682-A839-5291E3F0463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920874A-4853-4DF5-B4E7-F3E2BFF1D87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0E30B8-B079-470B-A4E3-3E6A8EDEA7A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DA69855-23AD-4116-955D-B97FA711655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B1F0F"/>
          </a:solidFill>
          <a:ln>
            <a:solidFill>
              <a:srgbClr val="0B1F0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0" y="0"/>
            <a:ext cx="6583320" cy="6857640"/>
          </a:xfrm>
          <a:prstGeom prst="rect">
            <a:avLst/>
          </a:prstGeom>
          <a:solidFill>
            <a:srgbClr val="0F3D1F"/>
          </a:solidFill>
          <a:ln>
            <a:solidFill>
              <a:srgbClr val="0F3D1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Rectangle 3"/>
          <p:cNvSpPr/>
          <p:nvPr/>
        </p:nvSpPr>
        <p:spPr>
          <a:xfrm>
            <a:off x="6583680" y="0"/>
            <a:ext cx="72720" cy="6857640"/>
          </a:xfrm>
          <a:prstGeom prst="rect">
            <a:avLst/>
          </a:prstGeom>
          <a:solidFill>
            <a:srgbClr val="00E5A0"/>
          </a:solidFill>
          <a:ln>
            <a:solidFill>
              <a:srgbClr val="00E5A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Oval 4"/>
          <p:cNvSpPr/>
          <p:nvPr/>
        </p:nvSpPr>
        <p:spPr>
          <a:xfrm>
            <a:off x="7680960" y="640080"/>
            <a:ext cx="2011320" cy="2011320"/>
          </a:xfrm>
          <a:prstGeom prst="ellipse">
            <a:avLst/>
          </a:prstGeom>
          <a:solidFill>
            <a:srgbClr val="00E5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" name="Oval 5"/>
          <p:cNvSpPr/>
          <p:nvPr/>
        </p:nvSpPr>
        <p:spPr>
          <a:xfrm>
            <a:off x="8503920" y="1828800"/>
            <a:ext cx="2742840" cy="2742840"/>
          </a:xfrm>
          <a:prstGeom prst="ellipse">
            <a:avLst/>
          </a:prstGeom>
          <a:solidFill>
            <a:srgbClr val="0F3D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Oval 6"/>
          <p:cNvSpPr/>
          <p:nvPr/>
        </p:nvSpPr>
        <p:spPr>
          <a:xfrm>
            <a:off x="7360920" y="3703320"/>
            <a:ext cx="1371240" cy="1371240"/>
          </a:xfrm>
          <a:prstGeom prst="ellipse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502920" y="914400"/>
            <a:ext cx="5943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DATA ENGINEERING · IoT · ANALYTICS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502920" y="1417320"/>
            <a:ext cx="59432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5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AgroSense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520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Analytics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502920" y="3246120"/>
            <a:ext cx="5851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6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Real-Time IoT Sensor Monitoring Pipeline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for Smart Agriculture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ectangle 10"/>
          <p:cNvSpPr/>
          <p:nvPr/>
        </p:nvSpPr>
        <p:spPr>
          <a:xfrm>
            <a:off x="502920" y="4663440"/>
            <a:ext cx="1352880" cy="100548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11"/>
          <p:cNvSpPr/>
          <p:nvPr/>
        </p:nvSpPr>
        <p:spPr>
          <a:xfrm>
            <a:off x="567000" y="4736520"/>
            <a:ext cx="1234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500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2"/>
          <p:cNvSpPr/>
          <p:nvPr/>
        </p:nvSpPr>
        <p:spPr>
          <a:xfrm>
            <a:off x="567000" y="5139000"/>
            <a:ext cx="1234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B8499"/>
                </a:solidFill>
                <a:effectLst/>
                <a:uFillTx/>
                <a:latin typeface="Calibri"/>
              </a:rPr>
              <a:t>Farm Sensors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ectangle 13"/>
          <p:cNvSpPr/>
          <p:nvPr/>
        </p:nvSpPr>
        <p:spPr>
          <a:xfrm>
            <a:off x="1947600" y="4663440"/>
            <a:ext cx="1352880" cy="100548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14"/>
          <p:cNvSpPr/>
          <p:nvPr/>
        </p:nvSpPr>
        <p:spPr>
          <a:xfrm>
            <a:off x="2011680" y="4736520"/>
            <a:ext cx="1234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5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5"/>
          <p:cNvSpPr/>
          <p:nvPr/>
        </p:nvSpPr>
        <p:spPr>
          <a:xfrm>
            <a:off x="2011680" y="5139000"/>
            <a:ext cx="1234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B8499"/>
                </a:solidFill>
                <a:effectLst/>
                <a:uFillTx/>
                <a:latin typeface="Calibri"/>
              </a:rPr>
              <a:t>Regions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ectangle 16"/>
          <p:cNvSpPr/>
          <p:nvPr/>
        </p:nvSpPr>
        <p:spPr>
          <a:xfrm>
            <a:off x="3392280" y="4663440"/>
            <a:ext cx="1352880" cy="100548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17"/>
          <p:cNvSpPr/>
          <p:nvPr/>
        </p:nvSpPr>
        <p:spPr>
          <a:xfrm>
            <a:off x="3456360" y="4736520"/>
            <a:ext cx="1234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2,500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8"/>
          <p:cNvSpPr/>
          <p:nvPr/>
        </p:nvSpPr>
        <p:spPr>
          <a:xfrm>
            <a:off x="3456360" y="5139000"/>
            <a:ext cx="1234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B8499"/>
                </a:solidFill>
                <a:effectLst/>
                <a:uFillTx/>
                <a:latin typeface="Calibri"/>
              </a:rPr>
              <a:t>Crop </a:t>
            </a:r>
            <a:r>
              <a:rPr lang="en-US" sz="900" b="0" u="none" strike="noStrike">
                <a:solidFill>
                  <a:srgbClr val="6B8499"/>
                </a:solidFill>
                <a:effectLst/>
                <a:uFillTx/>
                <a:latin typeface="Calibri"/>
              </a:rPr>
              <a:t>Profile</a:t>
            </a:r>
            <a:r>
              <a:rPr lang="en-US" sz="900" b="0" u="none" strike="noStrike">
                <a:solidFill>
                  <a:srgbClr val="6B8499"/>
                </a:solidFill>
                <a:effectLst/>
                <a:uFillTx/>
                <a:latin typeface="Calibri"/>
              </a:rPr>
              <a:t>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ectangle 19"/>
          <p:cNvSpPr/>
          <p:nvPr/>
        </p:nvSpPr>
        <p:spPr>
          <a:xfrm>
            <a:off x="4837320" y="4663440"/>
            <a:ext cx="1352880" cy="100548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20"/>
          <p:cNvSpPr/>
          <p:nvPr/>
        </p:nvSpPr>
        <p:spPr>
          <a:xfrm>
            <a:off x="4901040" y="4736520"/>
            <a:ext cx="1234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Live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21"/>
          <p:cNvSpPr/>
          <p:nvPr/>
        </p:nvSpPr>
        <p:spPr>
          <a:xfrm>
            <a:off x="4901040" y="5139000"/>
            <a:ext cx="1234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B8499"/>
                </a:solidFill>
                <a:effectLst/>
                <a:uFillTx/>
                <a:latin typeface="Calibri"/>
              </a:rPr>
              <a:t>Dashboard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ectangle 22"/>
          <p:cNvSpPr/>
          <p:nvPr/>
        </p:nvSpPr>
        <p:spPr>
          <a:xfrm>
            <a:off x="0" y="6355080"/>
            <a:ext cx="12188520" cy="502560"/>
          </a:xfrm>
          <a:prstGeom prst="rect">
            <a:avLst/>
          </a:prstGeom>
          <a:solidFill>
            <a:srgbClr val="07140A"/>
          </a:solidFill>
          <a:ln>
            <a:solidFill>
              <a:srgbClr val="07140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23"/>
          <p:cNvSpPr/>
          <p:nvPr/>
        </p:nvSpPr>
        <p:spPr>
          <a:xfrm>
            <a:off x="274320" y="6400800"/>
            <a:ext cx="11612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B8499"/>
                </a:solidFill>
                <a:effectLst/>
                <a:uFillTx/>
                <a:latin typeface="Calibri"/>
              </a:rPr>
              <a:t>Python  ·  BigQuery  ·  Google Looker Studio  ·  pandas  ·  OpenWeatherMap API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B1F0F"/>
          </a:solidFill>
          <a:ln>
            <a:solidFill>
              <a:srgbClr val="0B1F0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Rectangle 2"/>
          <p:cNvSpPr/>
          <p:nvPr/>
        </p:nvSpPr>
        <p:spPr>
          <a:xfrm>
            <a:off x="0" y="0"/>
            <a:ext cx="12188520" cy="685440"/>
          </a:xfrm>
          <a:prstGeom prst="rect">
            <a:avLst/>
          </a:prstGeom>
          <a:solidFill>
            <a:srgbClr val="0F3D1F"/>
          </a:solidFill>
          <a:ln>
            <a:solidFill>
              <a:srgbClr val="0F3D1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3"/>
          <p:cNvSpPr/>
          <p:nvPr/>
        </p:nvSpPr>
        <p:spPr>
          <a:xfrm>
            <a:off x="365760" y="164520"/>
            <a:ext cx="10972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PROJECT OVERVIEW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ectangle 4"/>
          <p:cNvSpPr/>
          <p:nvPr/>
        </p:nvSpPr>
        <p:spPr>
          <a:xfrm>
            <a:off x="0" y="685800"/>
            <a:ext cx="12188520" cy="36360"/>
          </a:xfrm>
          <a:prstGeom prst="rect">
            <a:avLst/>
          </a:prstGeom>
          <a:solidFill>
            <a:srgbClr val="00E5A0"/>
          </a:solidFill>
          <a:ln>
            <a:solidFill>
              <a:srgbClr val="00E5A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5"/>
          <p:cNvSpPr/>
          <p:nvPr/>
        </p:nvSpPr>
        <p:spPr>
          <a:xfrm>
            <a:off x="320040" y="914400"/>
            <a:ext cx="7314840" cy="210276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Rectangle 6"/>
          <p:cNvSpPr/>
          <p:nvPr/>
        </p:nvSpPr>
        <p:spPr>
          <a:xfrm>
            <a:off x="320040" y="914400"/>
            <a:ext cx="54360" cy="2102760"/>
          </a:xfrm>
          <a:prstGeom prst="rect">
            <a:avLst/>
          </a:prstGeom>
          <a:solidFill>
            <a:srgbClr val="00E5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7"/>
          <p:cNvSpPr/>
          <p:nvPr/>
        </p:nvSpPr>
        <p:spPr>
          <a:xfrm>
            <a:off x="502920" y="100584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What is AgroSense Analytics?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8"/>
          <p:cNvSpPr/>
          <p:nvPr/>
        </p:nvSpPr>
        <p:spPr>
          <a:xfrm>
            <a:off x="502920" y="1444680"/>
            <a:ext cx="69948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An end-to-end real-time IoT sensor monitoring pipeline that simulates live data streaming from a smart farm environment across 5 global regions. The system ingests continuous sensor readings, detects anomalies using IQR-based statistical analysis, and visualizes key agricultural KPIs through an interactive live dashboard — enabling data-driven farm operations management.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9"/>
          <p:cNvSpPr/>
          <p:nvPr/>
        </p:nvSpPr>
        <p:spPr>
          <a:xfrm>
            <a:off x="7863840" y="914400"/>
            <a:ext cx="4004640" cy="91404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Rectangle 10"/>
          <p:cNvSpPr/>
          <p:nvPr/>
        </p:nvSpPr>
        <p:spPr>
          <a:xfrm>
            <a:off x="7863840" y="914400"/>
            <a:ext cx="54360" cy="914040"/>
          </a:xfrm>
          <a:prstGeom prst="rect">
            <a:avLst/>
          </a:prstGeom>
          <a:solidFill>
            <a:srgbClr val="00E5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11"/>
          <p:cNvSpPr/>
          <p:nvPr/>
        </p:nvSpPr>
        <p:spPr>
          <a:xfrm>
            <a:off x="8065080" y="98748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Monitor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12"/>
          <p:cNvSpPr/>
          <p:nvPr/>
        </p:nvSpPr>
        <p:spPr>
          <a:xfrm>
            <a:off x="8065080" y="1325880"/>
            <a:ext cx="35658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Real-time IoT sensor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stream across 5 zones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ectangle 13"/>
          <p:cNvSpPr/>
          <p:nvPr/>
        </p:nvSpPr>
        <p:spPr>
          <a:xfrm>
            <a:off x="7863840" y="1938600"/>
            <a:ext cx="4004640" cy="91404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Rectangle 14"/>
          <p:cNvSpPr/>
          <p:nvPr/>
        </p:nvSpPr>
        <p:spPr>
          <a:xfrm>
            <a:off x="7863840" y="1938600"/>
            <a:ext cx="54360" cy="91404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15"/>
          <p:cNvSpPr/>
          <p:nvPr/>
        </p:nvSpPr>
        <p:spPr>
          <a:xfrm>
            <a:off x="8065080" y="201168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Detect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16"/>
          <p:cNvSpPr/>
          <p:nvPr/>
        </p:nvSpPr>
        <p:spPr>
          <a:xfrm>
            <a:off x="8065080" y="2350080"/>
            <a:ext cx="35658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Automated anomaly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flags via IQR engine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ectangle 17"/>
          <p:cNvSpPr/>
          <p:nvPr/>
        </p:nvSpPr>
        <p:spPr>
          <a:xfrm>
            <a:off x="7863840" y="2962800"/>
            <a:ext cx="4004640" cy="91404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Rectangle 18"/>
          <p:cNvSpPr/>
          <p:nvPr/>
        </p:nvSpPr>
        <p:spPr>
          <a:xfrm>
            <a:off x="7863840" y="2962800"/>
            <a:ext cx="54360" cy="914040"/>
          </a:xfrm>
          <a:prstGeom prst="rect">
            <a:avLst/>
          </a:prstGeom>
          <a:solidFill>
            <a:srgbClr val="FBBF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19"/>
          <p:cNvSpPr/>
          <p:nvPr/>
        </p:nvSpPr>
        <p:spPr>
          <a:xfrm>
            <a:off x="8065080" y="303588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BBF24"/>
                </a:solidFill>
                <a:effectLst/>
                <a:uFillTx/>
                <a:latin typeface="Calibri"/>
              </a:rPr>
              <a:t>Visualize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20"/>
          <p:cNvSpPr/>
          <p:nvPr/>
        </p:nvSpPr>
        <p:spPr>
          <a:xfrm>
            <a:off x="8065080" y="3374280"/>
            <a:ext cx="35658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Live Looker Studio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dashboard with BigQuery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ectangle 21"/>
          <p:cNvSpPr/>
          <p:nvPr/>
        </p:nvSpPr>
        <p:spPr>
          <a:xfrm>
            <a:off x="320040" y="3246120"/>
            <a:ext cx="2194200" cy="91404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22"/>
          <p:cNvSpPr/>
          <p:nvPr/>
        </p:nvSpPr>
        <p:spPr>
          <a:xfrm>
            <a:off x="411480" y="333756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500 rows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23"/>
          <p:cNvSpPr/>
          <p:nvPr/>
        </p:nvSpPr>
        <p:spPr>
          <a:xfrm>
            <a:off x="411480" y="373068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6B8499"/>
                </a:solidFill>
                <a:effectLst/>
                <a:uFillTx/>
                <a:latin typeface="Calibri"/>
              </a:rPr>
              <a:t>Yield Dataset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ectangle 24"/>
          <p:cNvSpPr/>
          <p:nvPr/>
        </p:nvSpPr>
        <p:spPr>
          <a:xfrm>
            <a:off x="2651760" y="3246120"/>
            <a:ext cx="2194200" cy="91404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25"/>
          <p:cNvSpPr/>
          <p:nvPr/>
        </p:nvSpPr>
        <p:spPr>
          <a:xfrm>
            <a:off x="2743200" y="333756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2,500 rows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26"/>
          <p:cNvSpPr/>
          <p:nvPr/>
        </p:nvSpPr>
        <p:spPr>
          <a:xfrm>
            <a:off x="2743200" y="373068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6B8499"/>
                </a:solidFill>
                <a:effectLst/>
                <a:uFillTx/>
                <a:latin typeface="Calibri"/>
              </a:rPr>
              <a:t>Crop Rec. Dataset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ectangle 27"/>
          <p:cNvSpPr/>
          <p:nvPr/>
        </p:nvSpPr>
        <p:spPr>
          <a:xfrm>
            <a:off x="4983480" y="3246120"/>
            <a:ext cx="2194200" cy="91404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TextBox 28"/>
          <p:cNvSpPr/>
          <p:nvPr/>
        </p:nvSpPr>
        <p:spPr>
          <a:xfrm>
            <a:off x="5074920" y="333756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5 Regions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29"/>
          <p:cNvSpPr/>
          <p:nvPr/>
        </p:nvSpPr>
        <p:spPr>
          <a:xfrm>
            <a:off x="5074920" y="373068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6B8499"/>
                </a:solidFill>
                <a:effectLst/>
                <a:uFillTx/>
                <a:latin typeface="Calibri"/>
              </a:rPr>
              <a:t>Global Coverage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ectangle 30"/>
          <p:cNvSpPr/>
          <p:nvPr/>
        </p:nvSpPr>
        <p:spPr>
          <a:xfrm>
            <a:off x="7315200" y="3246120"/>
            <a:ext cx="2194200" cy="91404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31"/>
          <p:cNvSpPr/>
          <p:nvPr/>
        </p:nvSpPr>
        <p:spPr>
          <a:xfrm>
            <a:off x="7406640" y="333756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6 Tables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32"/>
          <p:cNvSpPr/>
          <p:nvPr/>
        </p:nvSpPr>
        <p:spPr>
          <a:xfrm>
            <a:off x="7406640" y="373068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6B8499"/>
                </a:solidFill>
                <a:effectLst/>
                <a:uFillTx/>
                <a:latin typeface="Calibri"/>
              </a:rPr>
              <a:t>BigQuery Schema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ectangle 33"/>
          <p:cNvSpPr/>
          <p:nvPr/>
        </p:nvSpPr>
        <p:spPr>
          <a:xfrm>
            <a:off x="9646920" y="3246120"/>
            <a:ext cx="2194200" cy="91404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34"/>
          <p:cNvSpPr/>
          <p:nvPr/>
        </p:nvSpPr>
        <p:spPr>
          <a:xfrm>
            <a:off x="9738360" y="333756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5 Views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35"/>
          <p:cNvSpPr/>
          <p:nvPr/>
        </p:nvSpPr>
        <p:spPr>
          <a:xfrm>
            <a:off x="9738360" y="373068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6B8499"/>
                </a:solidFill>
                <a:effectLst/>
                <a:uFillTx/>
                <a:latin typeface="Calibri"/>
              </a:rPr>
              <a:t>Analytical Layer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ectangle 36"/>
          <p:cNvSpPr/>
          <p:nvPr/>
        </p:nvSpPr>
        <p:spPr>
          <a:xfrm>
            <a:off x="320040" y="4343400"/>
            <a:ext cx="11548440" cy="132552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Rectangle 37"/>
          <p:cNvSpPr/>
          <p:nvPr/>
        </p:nvSpPr>
        <p:spPr>
          <a:xfrm>
            <a:off x="320040" y="4343400"/>
            <a:ext cx="54360" cy="1325520"/>
          </a:xfrm>
          <a:prstGeom prst="rect">
            <a:avLst/>
          </a:prstGeom>
          <a:solidFill>
            <a:srgbClr val="FBBF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Box 38"/>
          <p:cNvSpPr/>
          <p:nvPr/>
        </p:nvSpPr>
        <p:spPr>
          <a:xfrm>
            <a:off x="502920" y="443484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BBF24"/>
                </a:solidFill>
                <a:effectLst/>
                <a:uFillTx/>
                <a:latin typeface="Calibri"/>
              </a:rPr>
              <a:t>Problem Statement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39"/>
          <p:cNvSpPr/>
          <p:nvPr/>
        </p:nvSpPr>
        <p:spPr>
          <a:xfrm>
            <a:off x="502920" y="4800600"/>
            <a:ext cx="11063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Traditional agriculture lacks real-time sensor monitoring and data-driven decision support. Farmers cannot detect crop stress, irrigation inefficiency, or anomalous soil conditions early enough to prevent yield loss. AgroSense bridges this gap with a cloud-native IoT pipeline.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ectangle 40"/>
          <p:cNvSpPr/>
          <p:nvPr/>
        </p:nvSpPr>
        <p:spPr>
          <a:xfrm>
            <a:off x="0" y="6355080"/>
            <a:ext cx="12188520" cy="502560"/>
          </a:xfrm>
          <a:prstGeom prst="rect">
            <a:avLst/>
          </a:prstGeom>
          <a:solidFill>
            <a:srgbClr val="07140A"/>
          </a:solidFill>
          <a:ln>
            <a:solidFill>
              <a:srgbClr val="07140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41"/>
          <p:cNvSpPr/>
          <p:nvPr/>
        </p:nvSpPr>
        <p:spPr>
          <a:xfrm>
            <a:off x="274320" y="6400800"/>
            <a:ext cx="11612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B8499"/>
                </a:solidFill>
                <a:effectLst/>
                <a:uFillTx/>
                <a:latin typeface="Calibri"/>
              </a:rPr>
              <a:t>AgroSense Analytics  ·  Real-Time Smart Farm Monitoring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B1F0F"/>
          </a:solidFill>
          <a:ln>
            <a:solidFill>
              <a:srgbClr val="0B1F0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Rectangle 2"/>
          <p:cNvSpPr/>
          <p:nvPr/>
        </p:nvSpPr>
        <p:spPr>
          <a:xfrm>
            <a:off x="0" y="0"/>
            <a:ext cx="12188520" cy="685440"/>
          </a:xfrm>
          <a:prstGeom prst="rect">
            <a:avLst/>
          </a:prstGeom>
          <a:solidFill>
            <a:srgbClr val="0F3D1F"/>
          </a:solidFill>
          <a:ln>
            <a:solidFill>
              <a:srgbClr val="0F3D1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3"/>
          <p:cNvSpPr/>
          <p:nvPr/>
        </p:nvSpPr>
        <p:spPr>
          <a:xfrm>
            <a:off x="365760" y="164520"/>
            <a:ext cx="10972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TECHNOLOGY STACK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Rectangle 4"/>
          <p:cNvSpPr/>
          <p:nvPr/>
        </p:nvSpPr>
        <p:spPr>
          <a:xfrm>
            <a:off x="0" y="685800"/>
            <a:ext cx="12188520" cy="36360"/>
          </a:xfrm>
          <a:prstGeom prst="rect">
            <a:avLst/>
          </a:prstGeom>
          <a:solidFill>
            <a:srgbClr val="00E5A0"/>
          </a:solidFill>
          <a:ln>
            <a:solidFill>
              <a:srgbClr val="00E5A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Rectangle 5"/>
          <p:cNvSpPr/>
          <p:nvPr/>
        </p:nvSpPr>
        <p:spPr>
          <a:xfrm>
            <a:off x="320040" y="960120"/>
            <a:ext cx="2815920" cy="173700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Rectangle 6"/>
          <p:cNvSpPr/>
          <p:nvPr/>
        </p:nvSpPr>
        <p:spPr>
          <a:xfrm>
            <a:off x="320040" y="960120"/>
            <a:ext cx="54360" cy="1737000"/>
          </a:xfrm>
          <a:prstGeom prst="rect">
            <a:avLst/>
          </a:prstGeom>
          <a:solidFill>
            <a:srgbClr val="00E5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Oval 7"/>
          <p:cNvSpPr/>
          <p:nvPr/>
        </p:nvSpPr>
        <p:spPr>
          <a:xfrm>
            <a:off x="484560" y="1124640"/>
            <a:ext cx="438480" cy="438480"/>
          </a:xfrm>
          <a:prstGeom prst="ellipse">
            <a:avLst/>
          </a:prstGeom>
          <a:solidFill>
            <a:srgbClr val="00E5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Box 8"/>
          <p:cNvSpPr/>
          <p:nvPr/>
        </p:nvSpPr>
        <p:spPr>
          <a:xfrm>
            <a:off x="484560" y="112464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B1F0F"/>
                </a:solidFill>
                <a:effectLst/>
                <a:uFillTx/>
                <a:latin typeface="Calibri"/>
              </a:rPr>
              <a:t>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9"/>
          <p:cNvSpPr/>
          <p:nvPr/>
        </p:nvSpPr>
        <p:spPr>
          <a:xfrm>
            <a:off x="1033200" y="112464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Python 3.12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10"/>
          <p:cNvSpPr/>
          <p:nvPr/>
        </p:nvSpPr>
        <p:spPr>
          <a:xfrm>
            <a:off x="484560" y="1618560"/>
            <a:ext cx="25599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Core language for ETL pipeline,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anomaly detection &amp; scheduling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ectangle 11"/>
          <p:cNvSpPr/>
          <p:nvPr/>
        </p:nvSpPr>
        <p:spPr>
          <a:xfrm>
            <a:off x="3264480" y="960120"/>
            <a:ext cx="2815920" cy="173700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Rectangle 12"/>
          <p:cNvSpPr/>
          <p:nvPr/>
        </p:nvSpPr>
        <p:spPr>
          <a:xfrm>
            <a:off x="3264480" y="960120"/>
            <a:ext cx="54360" cy="17370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Oval 13"/>
          <p:cNvSpPr/>
          <p:nvPr/>
        </p:nvSpPr>
        <p:spPr>
          <a:xfrm>
            <a:off x="3429000" y="1124640"/>
            <a:ext cx="438480" cy="438480"/>
          </a:xfrm>
          <a:prstGeom prst="ellipse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14"/>
          <p:cNvSpPr/>
          <p:nvPr/>
        </p:nvSpPr>
        <p:spPr>
          <a:xfrm>
            <a:off x="3429000" y="112464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B1F0F"/>
                </a:solidFill>
                <a:effectLst/>
                <a:uFillTx/>
                <a:latin typeface="Calibri"/>
              </a:rPr>
              <a:t>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15"/>
          <p:cNvSpPr/>
          <p:nvPr/>
        </p:nvSpPr>
        <p:spPr>
          <a:xfrm>
            <a:off x="3977640" y="112464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Google BigQuery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16"/>
          <p:cNvSpPr/>
          <p:nvPr/>
        </p:nvSpPr>
        <p:spPr>
          <a:xfrm>
            <a:off x="3429000" y="1618560"/>
            <a:ext cx="25599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Cloud data warehouse — 6 tables,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5 analytical views, FK constraints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ectangle 17"/>
          <p:cNvSpPr/>
          <p:nvPr/>
        </p:nvSpPr>
        <p:spPr>
          <a:xfrm>
            <a:off x="6208920" y="960120"/>
            <a:ext cx="2815920" cy="173700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Rectangle 18"/>
          <p:cNvSpPr/>
          <p:nvPr/>
        </p:nvSpPr>
        <p:spPr>
          <a:xfrm>
            <a:off x="6208920" y="960120"/>
            <a:ext cx="54360" cy="1737000"/>
          </a:xfrm>
          <a:prstGeom prst="rect">
            <a:avLst/>
          </a:prstGeom>
          <a:solidFill>
            <a:srgbClr val="FBBF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Oval 19"/>
          <p:cNvSpPr/>
          <p:nvPr/>
        </p:nvSpPr>
        <p:spPr>
          <a:xfrm>
            <a:off x="6373440" y="1124640"/>
            <a:ext cx="438480" cy="438480"/>
          </a:xfrm>
          <a:prstGeom prst="ellipse">
            <a:avLst/>
          </a:prstGeom>
          <a:solidFill>
            <a:srgbClr val="FBBF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20"/>
          <p:cNvSpPr/>
          <p:nvPr/>
        </p:nvSpPr>
        <p:spPr>
          <a:xfrm>
            <a:off x="6373440" y="112464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B1F0F"/>
                </a:solidFill>
                <a:effectLst/>
                <a:uFillTx/>
                <a:latin typeface="Calibri"/>
              </a:rPr>
              <a:t>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21"/>
          <p:cNvSpPr/>
          <p:nvPr/>
        </p:nvSpPr>
        <p:spPr>
          <a:xfrm>
            <a:off x="6922080" y="112464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FBBF24"/>
                </a:solidFill>
                <a:effectLst/>
                <a:uFillTx/>
                <a:latin typeface="Calibri"/>
              </a:rPr>
              <a:t>Google Looker Studio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22"/>
          <p:cNvSpPr/>
          <p:nvPr/>
        </p:nvSpPr>
        <p:spPr>
          <a:xfrm>
            <a:off x="6373440" y="1618560"/>
            <a:ext cx="25599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Live interactive dashboard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connected directly to BigQuery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ectangle 23"/>
          <p:cNvSpPr/>
          <p:nvPr/>
        </p:nvSpPr>
        <p:spPr>
          <a:xfrm>
            <a:off x="9153000" y="960120"/>
            <a:ext cx="2815920" cy="173700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Rectangle 24"/>
          <p:cNvSpPr/>
          <p:nvPr/>
        </p:nvSpPr>
        <p:spPr>
          <a:xfrm>
            <a:off x="9153000" y="960120"/>
            <a:ext cx="54360" cy="1737000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Oval 25"/>
          <p:cNvSpPr/>
          <p:nvPr/>
        </p:nvSpPr>
        <p:spPr>
          <a:xfrm>
            <a:off x="9317880" y="1124640"/>
            <a:ext cx="438480" cy="438480"/>
          </a:xfrm>
          <a:prstGeom prst="ellipse">
            <a:avLst/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26"/>
          <p:cNvSpPr/>
          <p:nvPr/>
        </p:nvSpPr>
        <p:spPr>
          <a:xfrm>
            <a:off x="9317880" y="112464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B1F0F"/>
                </a:solidFill>
                <a:effectLst/>
                <a:uFillTx/>
                <a:latin typeface="Calibri"/>
              </a:rPr>
              <a:t>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27"/>
          <p:cNvSpPr/>
          <p:nvPr/>
        </p:nvSpPr>
        <p:spPr>
          <a:xfrm>
            <a:off x="9866520" y="112464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F87171"/>
                </a:solidFill>
                <a:effectLst/>
                <a:uFillTx/>
                <a:latin typeface="Calibri"/>
              </a:rPr>
              <a:t>pandas &amp; NumPy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28"/>
          <p:cNvSpPr/>
          <p:nvPr/>
        </p:nvSpPr>
        <p:spPr>
          <a:xfrm>
            <a:off x="9317880" y="1618560"/>
            <a:ext cx="25599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Data cleaning, transformation,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IQR anomaly flagging &amp; ET0 calc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ectangle 29"/>
          <p:cNvSpPr/>
          <p:nvPr/>
        </p:nvSpPr>
        <p:spPr>
          <a:xfrm>
            <a:off x="320040" y="2880360"/>
            <a:ext cx="2815920" cy="173700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Rectangle 30"/>
          <p:cNvSpPr/>
          <p:nvPr/>
        </p:nvSpPr>
        <p:spPr>
          <a:xfrm>
            <a:off x="320040" y="2880360"/>
            <a:ext cx="54360" cy="1737000"/>
          </a:xfrm>
          <a:prstGeom prst="rect">
            <a:avLst/>
          </a:prstGeom>
          <a:solidFill>
            <a:srgbClr val="00E5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Oval 31"/>
          <p:cNvSpPr/>
          <p:nvPr/>
        </p:nvSpPr>
        <p:spPr>
          <a:xfrm>
            <a:off x="484560" y="3044880"/>
            <a:ext cx="438480" cy="438480"/>
          </a:xfrm>
          <a:prstGeom prst="ellipse">
            <a:avLst/>
          </a:prstGeom>
          <a:solidFill>
            <a:srgbClr val="00E5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32"/>
          <p:cNvSpPr/>
          <p:nvPr/>
        </p:nvSpPr>
        <p:spPr>
          <a:xfrm>
            <a:off x="484560" y="304488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B1F0F"/>
                </a:solidFill>
                <a:effectLst/>
                <a:uFillTx/>
                <a:latin typeface="Calibri"/>
              </a:rPr>
              <a:t>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33"/>
          <p:cNvSpPr/>
          <p:nvPr/>
        </p:nvSpPr>
        <p:spPr>
          <a:xfrm>
            <a:off x="1033200" y="304488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OpenWeatherMap API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34"/>
          <p:cNvSpPr/>
          <p:nvPr/>
        </p:nvSpPr>
        <p:spPr>
          <a:xfrm>
            <a:off x="484560" y="3538800"/>
            <a:ext cx="25599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Real weather data per region: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temp, humidity, rainfall, UV index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ectangle 35"/>
          <p:cNvSpPr/>
          <p:nvPr/>
        </p:nvSpPr>
        <p:spPr>
          <a:xfrm>
            <a:off x="3264480" y="2880360"/>
            <a:ext cx="2815920" cy="173700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Rectangle 36"/>
          <p:cNvSpPr/>
          <p:nvPr/>
        </p:nvSpPr>
        <p:spPr>
          <a:xfrm>
            <a:off x="3264480" y="2880360"/>
            <a:ext cx="54360" cy="17370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Oval 37"/>
          <p:cNvSpPr/>
          <p:nvPr/>
        </p:nvSpPr>
        <p:spPr>
          <a:xfrm>
            <a:off x="3429000" y="3044880"/>
            <a:ext cx="438480" cy="438480"/>
          </a:xfrm>
          <a:prstGeom prst="ellipse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Box 38"/>
          <p:cNvSpPr/>
          <p:nvPr/>
        </p:nvSpPr>
        <p:spPr>
          <a:xfrm>
            <a:off x="3429000" y="304488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B1F0F"/>
                </a:solidFill>
                <a:effectLst/>
                <a:uFillTx/>
                <a:latin typeface="Calibri"/>
              </a:rPr>
              <a:t>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39"/>
          <p:cNvSpPr/>
          <p:nvPr/>
        </p:nvSpPr>
        <p:spPr>
          <a:xfrm>
            <a:off x="3977640" y="304488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google-cloud-bigquery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40"/>
          <p:cNvSpPr/>
          <p:nvPr/>
        </p:nvSpPr>
        <p:spPr>
          <a:xfrm>
            <a:off x="3429000" y="3538800"/>
            <a:ext cx="25599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Python SDK for free-tier batch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inserts via load_table_from_json()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ectangle 41"/>
          <p:cNvSpPr/>
          <p:nvPr/>
        </p:nvSpPr>
        <p:spPr>
          <a:xfrm>
            <a:off x="6208920" y="2880360"/>
            <a:ext cx="2815920" cy="173700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Rectangle 42"/>
          <p:cNvSpPr/>
          <p:nvPr/>
        </p:nvSpPr>
        <p:spPr>
          <a:xfrm>
            <a:off x="6208920" y="2880360"/>
            <a:ext cx="54360" cy="1737000"/>
          </a:xfrm>
          <a:prstGeom prst="rect">
            <a:avLst/>
          </a:prstGeom>
          <a:solidFill>
            <a:srgbClr val="FBBF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Oval 43"/>
          <p:cNvSpPr/>
          <p:nvPr/>
        </p:nvSpPr>
        <p:spPr>
          <a:xfrm>
            <a:off x="6373440" y="3044880"/>
            <a:ext cx="438480" cy="438480"/>
          </a:xfrm>
          <a:prstGeom prst="ellipse">
            <a:avLst/>
          </a:prstGeom>
          <a:solidFill>
            <a:srgbClr val="FBBF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TextBox 44"/>
          <p:cNvSpPr/>
          <p:nvPr/>
        </p:nvSpPr>
        <p:spPr>
          <a:xfrm>
            <a:off x="6373440" y="304488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B1F0F"/>
                </a:solidFill>
                <a:effectLst/>
                <a:uFillTx/>
                <a:latin typeface="Calibri"/>
              </a:rPr>
              <a:t>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45"/>
          <p:cNvSpPr/>
          <p:nvPr/>
        </p:nvSpPr>
        <p:spPr>
          <a:xfrm>
            <a:off x="6922080" y="304488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FBBF24"/>
                </a:solidFill>
                <a:effectLst/>
                <a:uFillTx/>
                <a:latin typeface="Calibri"/>
              </a:rPr>
              <a:t>scheduler (Python)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46"/>
          <p:cNvSpPr/>
          <p:nvPr/>
        </p:nvSpPr>
        <p:spPr>
          <a:xfrm>
            <a:off x="6373440" y="3538800"/>
            <a:ext cx="25599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IoT stream simulator — replays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500 CSV rows with sensor noise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Rectangle 47"/>
          <p:cNvSpPr/>
          <p:nvPr/>
        </p:nvSpPr>
        <p:spPr>
          <a:xfrm>
            <a:off x="9153000" y="2880360"/>
            <a:ext cx="2815920" cy="173700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Rectangle 48"/>
          <p:cNvSpPr/>
          <p:nvPr/>
        </p:nvSpPr>
        <p:spPr>
          <a:xfrm>
            <a:off x="9153000" y="2880360"/>
            <a:ext cx="54360" cy="1737000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Oval 49"/>
          <p:cNvSpPr/>
          <p:nvPr/>
        </p:nvSpPr>
        <p:spPr>
          <a:xfrm>
            <a:off x="9317880" y="3044880"/>
            <a:ext cx="438480" cy="438480"/>
          </a:xfrm>
          <a:prstGeom prst="ellipse">
            <a:avLst/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TextBox 50"/>
          <p:cNvSpPr/>
          <p:nvPr/>
        </p:nvSpPr>
        <p:spPr>
          <a:xfrm>
            <a:off x="9317880" y="304488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B1F0F"/>
                </a:solidFill>
                <a:effectLst/>
                <a:uFillTx/>
                <a:latin typeface="Calibri"/>
              </a:rPr>
              <a:t>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51"/>
          <p:cNvSpPr/>
          <p:nvPr/>
        </p:nvSpPr>
        <p:spPr>
          <a:xfrm>
            <a:off x="9866520" y="304488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F87171"/>
                </a:solidFill>
                <a:effectLst/>
                <a:uFillTx/>
                <a:latin typeface="Calibri"/>
              </a:rPr>
              <a:t>Service Account / IAM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52"/>
          <p:cNvSpPr/>
          <p:nvPr/>
        </p:nvSpPr>
        <p:spPr>
          <a:xfrm>
            <a:off x="9317880" y="3538800"/>
            <a:ext cx="25599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Secure BigQuery authentication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via JSON key &amp; OAuth2 credentials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ectangle 53"/>
          <p:cNvSpPr/>
          <p:nvPr/>
        </p:nvSpPr>
        <p:spPr>
          <a:xfrm>
            <a:off x="0" y="6355080"/>
            <a:ext cx="12188520" cy="502560"/>
          </a:xfrm>
          <a:prstGeom prst="rect">
            <a:avLst/>
          </a:prstGeom>
          <a:solidFill>
            <a:srgbClr val="07140A"/>
          </a:solidFill>
          <a:ln>
            <a:solidFill>
              <a:srgbClr val="07140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54"/>
          <p:cNvSpPr/>
          <p:nvPr/>
        </p:nvSpPr>
        <p:spPr>
          <a:xfrm>
            <a:off x="274320" y="6400800"/>
            <a:ext cx="11612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B8499"/>
                </a:solidFill>
                <a:effectLst/>
                <a:uFillTx/>
                <a:latin typeface="Calibri"/>
              </a:rPr>
              <a:t>AgroSense Analytics  ·  Real-Time Smart Farm Monitoring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B1F0F"/>
          </a:solidFill>
          <a:ln>
            <a:solidFill>
              <a:srgbClr val="0B1F0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Rectangle 2"/>
          <p:cNvSpPr/>
          <p:nvPr/>
        </p:nvSpPr>
        <p:spPr>
          <a:xfrm>
            <a:off x="0" y="0"/>
            <a:ext cx="12188520" cy="685440"/>
          </a:xfrm>
          <a:prstGeom prst="rect">
            <a:avLst/>
          </a:prstGeom>
          <a:solidFill>
            <a:srgbClr val="0F3D1F"/>
          </a:solidFill>
          <a:ln>
            <a:solidFill>
              <a:srgbClr val="0F3D1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3"/>
          <p:cNvSpPr/>
          <p:nvPr/>
        </p:nvSpPr>
        <p:spPr>
          <a:xfrm>
            <a:off x="365760" y="164520"/>
            <a:ext cx="10972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DATASETS USED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Rectangle 4"/>
          <p:cNvSpPr/>
          <p:nvPr/>
        </p:nvSpPr>
        <p:spPr>
          <a:xfrm>
            <a:off x="0" y="685800"/>
            <a:ext cx="12188520" cy="36360"/>
          </a:xfrm>
          <a:prstGeom prst="rect">
            <a:avLst/>
          </a:prstGeom>
          <a:solidFill>
            <a:srgbClr val="00E5A0"/>
          </a:solidFill>
          <a:ln>
            <a:solidFill>
              <a:srgbClr val="00E5A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Rectangle 5"/>
          <p:cNvSpPr/>
          <p:nvPr/>
        </p:nvSpPr>
        <p:spPr>
          <a:xfrm>
            <a:off x="320040" y="914400"/>
            <a:ext cx="11548440" cy="162720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Rectangle 6"/>
          <p:cNvSpPr/>
          <p:nvPr/>
        </p:nvSpPr>
        <p:spPr>
          <a:xfrm>
            <a:off x="320040" y="914400"/>
            <a:ext cx="54360" cy="1627200"/>
          </a:xfrm>
          <a:prstGeom prst="rect">
            <a:avLst/>
          </a:prstGeom>
          <a:solidFill>
            <a:srgbClr val="00E5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TextBox 7"/>
          <p:cNvSpPr/>
          <p:nvPr/>
        </p:nvSpPr>
        <p:spPr>
          <a:xfrm>
            <a:off x="548640" y="1005840"/>
            <a:ext cx="6857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Smart_Farming_Crop_Yield_2024.csv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8"/>
          <p:cNvSpPr/>
          <p:nvPr/>
        </p:nvSpPr>
        <p:spPr>
          <a:xfrm>
            <a:off x="548640" y="13532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B8499"/>
                </a:solidFill>
                <a:effectLst/>
                <a:uFillTx/>
                <a:latin typeface="Calibri"/>
              </a:rPr>
              <a:t>500 rows · 22 columns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9"/>
          <p:cNvSpPr/>
          <p:nvPr/>
        </p:nvSpPr>
        <p:spPr>
          <a:xfrm>
            <a:off x="4754880" y="1024200"/>
            <a:ext cx="3245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▸  Primary fact table source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10"/>
          <p:cNvSpPr/>
          <p:nvPr/>
        </p:nvSpPr>
        <p:spPr>
          <a:xfrm>
            <a:off x="8138160" y="1024200"/>
            <a:ext cx="3245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▸  IoT sensor data: moisture, temp, humidity, pH, NDVI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11"/>
          <p:cNvSpPr/>
          <p:nvPr/>
        </p:nvSpPr>
        <p:spPr>
          <a:xfrm>
            <a:off x="4754880" y="1499760"/>
            <a:ext cx="3245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▸  5 crops: Wheat, Rice, Maize, Soybean, Cotton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12"/>
          <p:cNvSpPr/>
          <p:nvPr/>
        </p:nvSpPr>
        <p:spPr>
          <a:xfrm>
            <a:off x="8138160" y="1499760"/>
            <a:ext cx="3245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▸  5 regions with lat/lon coordinates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13"/>
          <p:cNvSpPr/>
          <p:nvPr/>
        </p:nvSpPr>
        <p:spPr>
          <a:xfrm>
            <a:off x="4754880" y="1974960"/>
            <a:ext cx="3245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▸  Sowing &amp; harvest dates, yield kg/ha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Rectangle 14"/>
          <p:cNvSpPr/>
          <p:nvPr/>
        </p:nvSpPr>
        <p:spPr>
          <a:xfrm>
            <a:off x="320040" y="2670120"/>
            <a:ext cx="11548440" cy="162720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Rectangle 15"/>
          <p:cNvSpPr/>
          <p:nvPr/>
        </p:nvSpPr>
        <p:spPr>
          <a:xfrm>
            <a:off x="320040" y="2670120"/>
            <a:ext cx="54360" cy="16272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Box 16"/>
          <p:cNvSpPr/>
          <p:nvPr/>
        </p:nvSpPr>
        <p:spPr>
          <a:xfrm>
            <a:off x="548640" y="2761560"/>
            <a:ext cx="6857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Crop</a:t>
            </a:r>
            <a:r>
              <a:rPr lang="en-US" sz="13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_rec</a:t>
            </a:r>
            <a:r>
              <a:rPr lang="en-US" sz="13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om</a:t>
            </a:r>
            <a:r>
              <a:rPr lang="en-US" sz="13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men</a:t>
            </a:r>
            <a:r>
              <a:rPr lang="en-US" sz="13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dati</a:t>
            </a:r>
            <a:r>
              <a:rPr lang="en-US" sz="13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on_</a:t>
            </a:r>
            <a:r>
              <a:rPr lang="en-US" sz="13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mult</a:t>
            </a:r>
            <a:r>
              <a:rPr lang="en-US" sz="13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iregi</a:t>
            </a:r>
            <a:r>
              <a:rPr lang="en-US" sz="13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on.c</a:t>
            </a:r>
            <a:r>
              <a:rPr lang="en-US" sz="13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sv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17"/>
          <p:cNvSpPr/>
          <p:nvPr/>
        </p:nvSpPr>
        <p:spPr>
          <a:xfrm>
            <a:off x="548640" y="31089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B8499"/>
                </a:solidFill>
                <a:effectLst/>
                <a:uFillTx/>
                <a:latin typeface="Calibri"/>
              </a:rPr>
              <a:t>2,500 rows · 9 columns  (custom-generated)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18"/>
          <p:cNvSpPr/>
          <p:nvPr/>
        </p:nvSpPr>
        <p:spPr>
          <a:xfrm>
            <a:off x="4754880" y="2779920"/>
            <a:ext cx="3245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▸  5 regions × 5 crops × 100 rows = 2,500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19"/>
          <p:cNvSpPr/>
          <p:nvPr/>
        </p:nvSpPr>
        <p:spPr>
          <a:xfrm>
            <a:off x="8138160" y="2779920"/>
            <a:ext cx="3245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▸  NPK nutrient ranges per region-crop pair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20"/>
          <p:cNvSpPr/>
          <p:nvPr/>
        </p:nvSpPr>
        <p:spPr>
          <a:xfrm>
            <a:off x="4754880" y="3255120"/>
            <a:ext cx="3245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▸  Ideal temperature, humidity, pH, rainfall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21"/>
          <p:cNvSpPr/>
          <p:nvPr/>
        </p:nvSpPr>
        <p:spPr>
          <a:xfrm>
            <a:off x="8138160" y="3255120"/>
            <a:ext cx="3245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▸  FAO Kc mid-season coefficient per crop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22"/>
          <p:cNvSpPr/>
          <p:nvPr/>
        </p:nvSpPr>
        <p:spPr>
          <a:xfrm>
            <a:off x="4754880" y="3730680"/>
            <a:ext cx="3245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▸  Replaced India-only original dataset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Rectangle 23"/>
          <p:cNvSpPr/>
          <p:nvPr/>
        </p:nvSpPr>
        <p:spPr>
          <a:xfrm>
            <a:off x="320040" y="4425840"/>
            <a:ext cx="11548440" cy="162720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Rectangle 24"/>
          <p:cNvSpPr/>
          <p:nvPr/>
        </p:nvSpPr>
        <p:spPr>
          <a:xfrm>
            <a:off x="320040" y="4425840"/>
            <a:ext cx="54360" cy="1627200"/>
          </a:xfrm>
          <a:prstGeom prst="rect">
            <a:avLst/>
          </a:prstGeom>
          <a:solidFill>
            <a:srgbClr val="FBBF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TextBox 25"/>
          <p:cNvSpPr/>
          <p:nvPr/>
        </p:nvSpPr>
        <p:spPr>
          <a:xfrm>
            <a:off x="548640" y="4517280"/>
            <a:ext cx="685764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BBF24"/>
                </a:solidFill>
                <a:effectLst/>
                <a:uFillTx/>
                <a:latin typeface="Calibri"/>
              </a:rPr>
              <a:t>OpenWeatherMap API (Forecast 2.5 )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26"/>
          <p:cNvSpPr/>
          <p:nvPr/>
        </p:nvSpPr>
        <p:spPr>
          <a:xfrm>
            <a:off x="548640" y="4864680"/>
            <a:ext cx="36572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B8499"/>
                </a:solidFill>
                <a:effectLst/>
                <a:uFillTx/>
                <a:latin typeface="Calibri"/>
              </a:rPr>
              <a:t>Live ·  5-day/3-hour data forecast  API 2.5   · Free tier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Liberation Mono;Courier New;DejaVu Sans Mono"/>
            </a:endParaRPr>
          </a:p>
        </p:txBody>
      </p:sp>
      <p:sp>
        <p:nvSpPr>
          <p:cNvPr id="205" name="TextBox 27"/>
          <p:cNvSpPr/>
          <p:nvPr/>
        </p:nvSpPr>
        <p:spPr>
          <a:xfrm>
            <a:off x="4754880" y="4535280"/>
            <a:ext cx="3245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▸  Real weather per region centroid coordinate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28"/>
          <p:cNvSpPr/>
          <p:nvPr/>
        </p:nvSpPr>
        <p:spPr>
          <a:xfrm>
            <a:off x="8138160" y="4535280"/>
            <a:ext cx="3245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▸  Temperature, humidity, wind speed, UV index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29"/>
          <p:cNvSpPr/>
          <p:nvPr/>
        </p:nvSpPr>
        <p:spPr>
          <a:xfrm>
            <a:off x="4754880" y="5010840"/>
            <a:ext cx="324576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950" b="0" u="none" strike="noStrike">
                <a:solidFill>
                  <a:srgbClr val="DCE8F0"/>
                </a:solidFill>
                <a:effectLst/>
                <a:uFillTx/>
                <a:latin typeface="Calibri"/>
                <a:ea typeface="Microsoft YaHei"/>
              </a:rPr>
              <a:t>▸     rainfall </a:t>
            </a:r>
            <a:r>
              <a:rPr lang="en-US" sz="9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3-hour window  for cross-validation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30"/>
          <p:cNvSpPr/>
          <p:nvPr/>
        </p:nvSpPr>
        <p:spPr>
          <a:xfrm>
            <a:off x="8138160" y="5010840"/>
            <a:ext cx="324576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▸  Stored in fact_weather_api BigQuery table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31"/>
          <p:cNvSpPr/>
          <p:nvPr/>
        </p:nvSpPr>
        <p:spPr>
          <a:xfrm>
            <a:off x="4754880" y="5486400"/>
            <a:ext cx="324576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▸  1000 API calls/day — within free tier limit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Rectangle 32"/>
          <p:cNvSpPr/>
          <p:nvPr/>
        </p:nvSpPr>
        <p:spPr>
          <a:xfrm>
            <a:off x="0" y="6355080"/>
            <a:ext cx="12188520" cy="502560"/>
          </a:xfrm>
          <a:prstGeom prst="rect">
            <a:avLst/>
          </a:prstGeom>
          <a:solidFill>
            <a:srgbClr val="07140A"/>
          </a:solidFill>
          <a:ln>
            <a:solidFill>
              <a:srgbClr val="07140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33"/>
          <p:cNvSpPr/>
          <p:nvPr/>
        </p:nvSpPr>
        <p:spPr>
          <a:xfrm>
            <a:off x="274320" y="6400800"/>
            <a:ext cx="11612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B8499"/>
                </a:solidFill>
                <a:effectLst/>
                <a:uFillTx/>
                <a:latin typeface="Calibri"/>
              </a:rPr>
              <a:t>AgroSense Analytics  ·  Real-Time Smart Farm Monitoring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B1F0F"/>
          </a:solidFill>
          <a:ln>
            <a:solidFill>
              <a:srgbClr val="0B1F0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Rectangle 2"/>
          <p:cNvSpPr/>
          <p:nvPr/>
        </p:nvSpPr>
        <p:spPr>
          <a:xfrm>
            <a:off x="0" y="0"/>
            <a:ext cx="12188520" cy="685440"/>
          </a:xfrm>
          <a:prstGeom prst="rect">
            <a:avLst/>
          </a:prstGeom>
          <a:solidFill>
            <a:srgbClr val="0F3D1F"/>
          </a:solidFill>
          <a:ln>
            <a:solidFill>
              <a:srgbClr val="0F3D1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TextBox 3"/>
          <p:cNvSpPr/>
          <p:nvPr/>
        </p:nvSpPr>
        <p:spPr>
          <a:xfrm>
            <a:off x="365760" y="164520"/>
            <a:ext cx="10972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END-TO-END PIPELINE ARCHITECTURE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Rectangle 4"/>
          <p:cNvSpPr/>
          <p:nvPr/>
        </p:nvSpPr>
        <p:spPr>
          <a:xfrm>
            <a:off x="0" y="685800"/>
            <a:ext cx="12188520" cy="36360"/>
          </a:xfrm>
          <a:prstGeom prst="rect">
            <a:avLst/>
          </a:prstGeom>
          <a:solidFill>
            <a:srgbClr val="00E5A0"/>
          </a:solidFill>
          <a:ln>
            <a:solidFill>
              <a:srgbClr val="00E5A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Rectangle 5"/>
          <p:cNvSpPr/>
          <p:nvPr/>
        </p:nvSpPr>
        <p:spPr>
          <a:xfrm>
            <a:off x="320040" y="896040"/>
            <a:ext cx="11548440" cy="76788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7" name="Rectangle 6"/>
          <p:cNvSpPr/>
          <p:nvPr/>
        </p:nvSpPr>
        <p:spPr>
          <a:xfrm>
            <a:off x="320040" y="896040"/>
            <a:ext cx="54360" cy="767880"/>
          </a:xfrm>
          <a:prstGeom prst="rect">
            <a:avLst/>
          </a:prstGeom>
          <a:solidFill>
            <a:srgbClr val="00E5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Rectangle 7"/>
          <p:cNvSpPr/>
          <p:nvPr/>
        </p:nvSpPr>
        <p:spPr>
          <a:xfrm>
            <a:off x="502920" y="1115640"/>
            <a:ext cx="895680" cy="319680"/>
          </a:xfrm>
          <a:prstGeom prst="rect">
            <a:avLst/>
          </a:prstGeom>
          <a:solidFill>
            <a:srgbClr val="00E5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TextBox 8"/>
          <p:cNvSpPr/>
          <p:nvPr/>
        </p:nvSpPr>
        <p:spPr>
          <a:xfrm>
            <a:off x="502920" y="1115640"/>
            <a:ext cx="895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0B1F0F"/>
                </a:solidFill>
                <a:effectLst/>
                <a:uFillTx/>
                <a:latin typeface="Calibri"/>
              </a:rPr>
              <a:t>Layer 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9"/>
          <p:cNvSpPr/>
          <p:nvPr/>
        </p:nvSpPr>
        <p:spPr>
          <a:xfrm>
            <a:off x="1554480" y="969120"/>
            <a:ext cx="25599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DATA SOURCES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10"/>
          <p:cNvSpPr/>
          <p:nvPr/>
        </p:nvSpPr>
        <p:spPr>
          <a:xfrm>
            <a:off x="4297680" y="969120"/>
            <a:ext cx="7406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Crop Yield CSV (500)  ·  Crop Rec. CSV (2500)  ·  OWM API (live)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Rectangle 11"/>
          <p:cNvSpPr/>
          <p:nvPr/>
        </p:nvSpPr>
        <p:spPr>
          <a:xfrm>
            <a:off x="5943600" y="1664280"/>
            <a:ext cx="301320" cy="109440"/>
          </a:xfrm>
          <a:prstGeom prst="rect">
            <a:avLst/>
          </a:prstGeom>
          <a:solidFill>
            <a:srgbClr val="00E5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Rectangle 12"/>
          <p:cNvSpPr/>
          <p:nvPr/>
        </p:nvSpPr>
        <p:spPr>
          <a:xfrm>
            <a:off x="320040" y="1774080"/>
            <a:ext cx="11548440" cy="76788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Rectangle 13"/>
          <p:cNvSpPr/>
          <p:nvPr/>
        </p:nvSpPr>
        <p:spPr>
          <a:xfrm>
            <a:off x="320040" y="1774080"/>
            <a:ext cx="54360" cy="76788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Rectangle 14"/>
          <p:cNvSpPr/>
          <p:nvPr/>
        </p:nvSpPr>
        <p:spPr>
          <a:xfrm>
            <a:off x="502920" y="1993320"/>
            <a:ext cx="895680" cy="31968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6" name="TextBox 15"/>
          <p:cNvSpPr/>
          <p:nvPr/>
        </p:nvSpPr>
        <p:spPr>
          <a:xfrm>
            <a:off x="502920" y="1993320"/>
            <a:ext cx="895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0B1F0F"/>
                </a:solidFill>
                <a:effectLst/>
                <a:uFillTx/>
                <a:latin typeface="Calibri"/>
              </a:rPr>
              <a:t>Layer 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16"/>
          <p:cNvSpPr/>
          <p:nvPr/>
        </p:nvSpPr>
        <p:spPr>
          <a:xfrm>
            <a:off x="1554480" y="1847160"/>
            <a:ext cx="25599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PYTHON ETL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17"/>
          <p:cNvSpPr/>
          <p:nvPr/>
        </p:nvSpPr>
        <p:spPr>
          <a:xfrm>
            <a:off x="4297680" y="1847160"/>
            <a:ext cx="7406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pandas cleaning  ·  ET0 computation  ·  IQR anomaly flagging  ·  noise simulation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Rectangle 18"/>
          <p:cNvSpPr/>
          <p:nvPr/>
        </p:nvSpPr>
        <p:spPr>
          <a:xfrm>
            <a:off x="5943600" y="2541960"/>
            <a:ext cx="301320" cy="10944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Rectangle 19"/>
          <p:cNvSpPr/>
          <p:nvPr/>
        </p:nvSpPr>
        <p:spPr>
          <a:xfrm>
            <a:off x="320040" y="2651760"/>
            <a:ext cx="11548440" cy="76788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Rectangle 20"/>
          <p:cNvSpPr/>
          <p:nvPr/>
        </p:nvSpPr>
        <p:spPr>
          <a:xfrm>
            <a:off x="320040" y="2651760"/>
            <a:ext cx="54360" cy="767880"/>
          </a:xfrm>
          <a:prstGeom prst="rect">
            <a:avLst/>
          </a:prstGeom>
          <a:solidFill>
            <a:srgbClr val="FBBF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Rectangle 21"/>
          <p:cNvSpPr/>
          <p:nvPr/>
        </p:nvSpPr>
        <p:spPr>
          <a:xfrm>
            <a:off x="502920" y="2871360"/>
            <a:ext cx="895680" cy="319680"/>
          </a:xfrm>
          <a:prstGeom prst="rect">
            <a:avLst/>
          </a:prstGeom>
          <a:solidFill>
            <a:srgbClr val="FBBF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3" name="TextBox 22"/>
          <p:cNvSpPr/>
          <p:nvPr/>
        </p:nvSpPr>
        <p:spPr>
          <a:xfrm>
            <a:off x="502920" y="2871360"/>
            <a:ext cx="895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0B1F0F"/>
                </a:solidFill>
                <a:effectLst/>
                <a:uFillTx/>
                <a:latin typeface="Calibri"/>
              </a:rPr>
              <a:t>Layer 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23"/>
          <p:cNvSpPr/>
          <p:nvPr/>
        </p:nvSpPr>
        <p:spPr>
          <a:xfrm>
            <a:off x="1554480" y="2724840"/>
            <a:ext cx="25599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BBF24"/>
                </a:solidFill>
                <a:effectLst/>
                <a:uFillTx/>
                <a:latin typeface="Calibri"/>
              </a:rPr>
              <a:t>BIGQUERY SCHEMA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24"/>
          <p:cNvSpPr/>
          <p:nvPr/>
        </p:nvSpPr>
        <p:spPr>
          <a:xfrm>
            <a:off x="4297680" y="2724840"/>
            <a:ext cx="7406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6 native tables  ·  PKs &amp; FKs (NOT ENFORCED)  ·  partitioned by DATE(reading_ts)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Rectangle 25"/>
          <p:cNvSpPr/>
          <p:nvPr/>
        </p:nvSpPr>
        <p:spPr>
          <a:xfrm>
            <a:off x="5943600" y="3420000"/>
            <a:ext cx="301320" cy="109440"/>
          </a:xfrm>
          <a:prstGeom prst="rect">
            <a:avLst/>
          </a:prstGeom>
          <a:solidFill>
            <a:srgbClr val="FBBF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7" name="Rectangle 26"/>
          <p:cNvSpPr/>
          <p:nvPr/>
        </p:nvSpPr>
        <p:spPr>
          <a:xfrm>
            <a:off x="320040" y="3529440"/>
            <a:ext cx="11548440" cy="76788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8" name="Rectangle 27"/>
          <p:cNvSpPr/>
          <p:nvPr/>
        </p:nvSpPr>
        <p:spPr>
          <a:xfrm>
            <a:off x="320040" y="3529440"/>
            <a:ext cx="54360" cy="767880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Rectangle 28"/>
          <p:cNvSpPr/>
          <p:nvPr/>
        </p:nvSpPr>
        <p:spPr>
          <a:xfrm>
            <a:off x="502920" y="3749040"/>
            <a:ext cx="895680" cy="319680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0" name="TextBox 29"/>
          <p:cNvSpPr/>
          <p:nvPr/>
        </p:nvSpPr>
        <p:spPr>
          <a:xfrm>
            <a:off x="502920" y="3749040"/>
            <a:ext cx="895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0B1F0F"/>
                </a:solidFill>
                <a:effectLst/>
                <a:uFillTx/>
                <a:latin typeface="Calibri"/>
              </a:rPr>
              <a:t>Layer 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30"/>
          <p:cNvSpPr/>
          <p:nvPr/>
        </p:nvSpPr>
        <p:spPr>
          <a:xfrm>
            <a:off x="1554480" y="3602880"/>
            <a:ext cx="25599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87171"/>
                </a:solidFill>
                <a:effectLst/>
                <a:uFillTx/>
                <a:latin typeface="Calibri"/>
              </a:rPr>
              <a:t>LIVE STREAMING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Box 31"/>
          <p:cNvSpPr/>
          <p:nvPr/>
        </p:nvSpPr>
        <p:spPr>
          <a:xfrm>
            <a:off x="4297680" y="3602880"/>
            <a:ext cx="7406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scheduler.py  ·  load_table_from_json()  ·  5 rows / 30s  ·  free tier only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Rectangle 32"/>
          <p:cNvSpPr/>
          <p:nvPr/>
        </p:nvSpPr>
        <p:spPr>
          <a:xfrm>
            <a:off x="5943600" y="4297680"/>
            <a:ext cx="301320" cy="109440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4" name="Rectangle 33"/>
          <p:cNvSpPr/>
          <p:nvPr/>
        </p:nvSpPr>
        <p:spPr>
          <a:xfrm>
            <a:off x="320040" y="4407480"/>
            <a:ext cx="11548440" cy="76788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Rectangle 34"/>
          <p:cNvSpPr/>
          <p:nvPr/>
        </p:nvSpPr>
        <p:spPr>
          <a:xfrm>
            <a:off x="320040" y="4407480"/>
            <a:ext cx="54360" cy="767880"/>
          </a:xfrm>
          <a:prstGeom prst="rect">
            <a:avLst/>
          </a:prstGeom>
          <a:solidFill>
            <a:srgbClr val="00E5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6" name="Rectangle 35"/>
          <p:cNvSpPr/>
          <p:nvPr/>
        </p:nvSpPr>
        <p:spPr>
          <a:xfrm>
            <a:off x="502920" y="4626720"/>
            <a:ext cx="895680" cy="319680"/>
          </a:xfrm>
          <a:prstGeom prst="rect">
            <a:avLst/>
          </a:prstGeom>
          <a:solidFill>
            <a:srgbClr val="00E5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7" name="TextBox 36"/>
          <p:cNvSpPr/>
          <p:nvPr/>
        </p:nvSpPr>
        <p:spPr>
          <a:xfrm>
            <a:off x="502920" y="4626720"/>
            <a:ext cx="895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0B1F0F"/>
                </a:solidFill>
                <a:effectLst/>
                <a:uFillTx/>
                <a:latin typeface="Calibri"/>
              </a:rPr>
              <a:t>Layer 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37"/>
          <p:cNvSpPr/>
          <p:nvPr/>
        </p:nvSpPr>
        <p:spPr>
          <a:xfrm>
            <a:off x="1554480" y="4480560"/>
            <a:ext cx="25599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ANALYTICS VIEWS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38"/>
          <p:cNvSpPr/>
          <p:nvPr/>
        </p:nvSpPr>
        <p:spPr>
          <a:xfrm>
            <a:off x="4297680" y="4480560"/>
            <a:ext cx="7406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vw_latest_readings  ·  vw_zone_summary  ·  vw_anomaly_log  ·  vw_yield_analysis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Rectangle 39"/>
          <p:cNvSpPr/>
          <p:nvPr/>
        </p:nvSpPr>
        <p:spPr>
          <a:xfrm>
            <a:off x="5943600" y="5175360"/>
            <a:ext cx="301320" cy="109440"/>
          </a:xfrm>
          <a:prstGeom prst="rect">
            <a:avLst/>
          </a:prstGeom>
          <a:solidFill>
            <a:srgbClr val="00E5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1" name="Rectangle 40"/>
          <p:cNvSpPr/>
          <p:nvPr/>
        </p:nvSpPr>
        <p:spPr>
          <a:xfrm>
            <a:off x="320040" y="5285160"/>
            <a:ext cx="11548440" cy="76788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2" name="Rectangle 41"/>
          <p:cNvSpPr/>
          <p:nvPr/>
        </p:nvSpPr>
        <p:spPr>
          <a:xfrm>
            <a:off x="320040" y="5285160"/>
            <a:ext cx="54360" cy="76788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3" name="Rectangle 42"/>
          <p:cNvSpPr/>
          <p:nvPr/>
        </p:nvSpPr>
        <p:spPr>
          <a:xfrm>
            <a:off x="502920" y="5504760"/>
            <a:ext cx="895680" cy="31968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4" name="TextBox 43"/>
          <p:cNvSpPr/>
          <p:nvPr/>
        </p:nvSpPr>
        <p:spPr>
          <a:xfrm>
            <a:off x="502920" y="5504760"/>
            <a:ext cx="895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0B1F0F"/>
                </a:solidFill>
                <a:effectLst/>
                <a:uFillTx/>
                <a:latin typeface="Calibri"/>
              </a:rPr>
              <a:t>Layer 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44"/>
          <p:cNvSpPr/>
          <p:nvPr/>
        </p:nvSpPr>
        <p:spPr>
          <a:xfrm>
            <a:off x="1554480" y="5358240"/>
            <a:ext cx="25599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LOOKER STUDIO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45"/>
          <p:cNvSpPr/>
          <p:nvPr/>
        </p:nvSpPr>
        <p:spPr>
          <a:xfrm>
            <a:off x="4297680" y="5358240"/>
            <a:ext cx="7406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Live dashboard  ·  KPI cards  ·  zone heatmap  ·  anomaly feed  ·  yield matrix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Rectangle 46"/>
          <p:cNvSpPr/>
          <p:nvPr/>
        </p:nvSpPr>
        <p:spPr>
          <a:xfrm>
            <a:off x="0" y="6355080"/>
            <a:ext cx="12188520" cy="502560"/>
          </a:xfrm>
          <a:prstGeom prst="rect">
            <a:avLst/>
          </a:prstGeom>
          <a:solidFill>
            <a:srgbClr val="07140A"/>
          </a:solidFill>
          <a:ln>
            <a:solidFill>
              <a:srgbClr val="07140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8" name="TextBox 47"/>
          <p:cNvSpPr/>
          <p:nvPr/>
        </p:nvSpPr>
        <p:spPr>
          <a:xfrm>
            <a:off x="274320" y="6400800"/>
            <a:ext cx="11612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B8499"/>
                </a:solidFill>
                <a:effectLst/>
                <a:uFillTx/>
                <a:latin typeface="Calibri"/>
              </a:rPr>
              <a:t>AgroSense Analytics  ·  Real-Time Smart Farm Monitoring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B1F0F"/>
          </a:solidFill>
          <a:ln>
            <a:solidFill>
              <a:srgbClr val="0B1F0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Rectangle 2"/>
          <p:cNvSpPr/>
          <p:nvPr/>
        </p:nvSpPr>
        <p:spPr>
          <a:xfrm>
            <a:off x="0" y="0"/>
            <a:ext cx="12188520" cy="685440"/>
          </a:xfrm>
          <a:prstGeom prst="rect">
            <a:avLst/>
          </a:prstGeom>
          <a:solidFill>
            <a:srgbClr val="0F3D1F"/>
          </a:solidFill>
          <a:ln>
            <a:solidFill>
              <a:srgbClr val="0F3D1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1" name="TextBox 3"/>
          <p:cNvSpPr/>
          <p:nvPr/>
        </p:nvSpPr>
        <p:spPr>
          <a:xfrm>
            <a:off x="365760" y="164520"/>
            <a:ext cx="10972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BIGQUERY DATABASE SCHEMA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Rectangle 4"/>
          <p:cNvSpPr/>
          <p:nvPr/>
        </p:nvSpPr>
        <p:spPr>
          <a:xfrm>
            <a:off x="0" y="685800"/>
            <a:ext cx="12188520" cy="36360"/>
          </a:xfrm>
          <a:prstGeom prst="rect">
            <a:avLst/>
          </a:prstGeom>
          <a:solidFill>
            <a:srgbClr val="00E5A0"/>
          </a:solidFill>
          <a:ln>
            <a:solidFill>
              <a:srgbClr val="00E5A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3" name="Rectangle 5"/>
          <p:cNvSpPr/>
          <p:nvPr/>
        </p:nvSpPr>
        <p:spPr>
          <a:xfrm>
            <a:off x="320040" y="896040"/>
            <a:ext cx="11548440" cy="76788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4" name="Rectangle 6"/>
          <p:cNvSpPr/>
          <p:nvPr/>
        </p:nvSpPr>
        <p:spPr>
          <a:xfrm>
            <a:off x="320040" y="896040"/>
            <a:ext cx="54360" cy="767880"/>
          </a:xfrm>
          <a:prstGeom prst="rect">
            <a:avLst/>
          </a:prstGeom>
          <a:solidFill>
            <a:srgbClr val="00E5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5" name="TextBox 7"/>
          <p:cNvSpPr/>
          <p:nvPr/>
        </p:nvSpPr>
        <p:spPr>
          <a:xfrm>
            <a:off x="548640" y="969120"/>
            <a:ext cx="2742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E5A0"/>
                </a:solidFill>
                <a:effectLst/>
                <a:uFillTx/>
                <a:latin typeface="Consolas"/>
              </a:rPr>
              <a:t>dim_regions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8"/>
          <p:cNvSpPr/>
          <p:nvPr/>
        </p:nvSpPr>
        <p:spPr>
          <a:xfrm>
            <a:off x="548640" y="133488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B8499"/>
                </a:solidFill>
                <a:effectLst/>
                <a:uFillTx/>
                <a:latin typeface="Consolas"/>
              </a:rPr>
              <a:t>PK: region_id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9"/>
          <p:cNvSpPr/>
          <p:nvPr/>
        </p:nvSpPr>
        <p:spPr>
          <a:xfrm>
            <a:off x="3429000" y="1115640"/>
            <a:ext cx="10969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BBF24"/>
                </a:solidFill>
                <a:effectLst/>
                <a:uFillTx/>
                <a:latin typeface="Calibri"/>
              </a:rPr>
              <a:t>5 rows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10"/>
          <p:cNvSpPr/>
          <p:nvPr/>
        </p:nvSpPr>
        <p:spPr>
          <a:xfrm>
            <a:off x="4754880" y="1115640"/>
            <a:ext cx="6949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Master lookup — 5 geographic zones with OWM coordinates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Rectangle 11"/>
          <p:cNvSpPr/>
          <p:nvPr/>
        </p:nvSpPr>
        <p:spPr>
          <a:xfrm>
            <a:off x="320040" y="1774080"/>
            <a:ext cx="11548440" cy="76788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0" name="Rectangle 12"/>
          <p:cNvSpPr/>
          <p:nvPr/>
        </p:nvSpPr>
        <p:spPr>
          <a:xfrm>
            <a:off x="320040" y="1774080"/>
            <a:ext cx="54360" cy="767880"/>
          </a:xfrm>
          <a:prstGeom prst="rect">
            <a:avLst/>
          </a:prstGeom>
          <a:solidFill>
            <a:srgbClr val="00E5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1" name="TextBox 13"/>
          <p:cNvSpPr/>
          <p:nvPr/>
        </p:nvSpPr>
        <p:spPr>
          <a:xfrm>
            <a:off x="548640" y="1847160"/>
            <a:ext cx="2742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E5A0"/>
                </a:solidFill>
                <a:effectLst/>
                <a:uFillTx/>
                <a:latin typeface="Consolas"/>
              </a:rPr>
              <a:t>dim_farms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14"/>
          <p:cNvSpPr/>
          <p:nvPr/>
        </p:nvSpPr>
        <p:spPr>
          <a:xfrm>
            <a:off x="548640" y="221292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B8499"/>
                </a:solidFill>
                <a:effectLst/>
                <a:uFillTx/>
                <a:latin typeface="Consolas"/>
              </a:rPr>
              <a:t>PK: farm_id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15"/>
          <p:cNvSpPr/>
          <p:nvPr/>
        </p:nvSpPr>
        <p:spPr>
          <a:xfrm>
            <a:off x="3429000" y="1993320"/>
            <a:ext cx="10969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BBF24"/>
                </a:solidFill>
                <a:effectLst/>
                <a:uFillTx/>
                <a:latin typeface="Calibri"/>
              </a:rPr>
              <a:t>500 rows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16"/>
          <p:cNvSpPr/>
          <p:nvPr/>
        </p:nvSpPr>
        <p:spPr>
          <a:xfrm>
            <a:off x="4754880" y="1993320"/>
            <a:ext cx="6949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Farm registry — irrigation type, fertilizer, lat/lon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Rectangle 17"/>
          <p:cNvSpPr/>
          <p:nvPr/>
        </p:nvSpPr>
        <p:spPr>
          <a:xfrm>
            <a:off x="320040" y="2651760"/>
            <a:ext cx="11548440" cy="76788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6" name="Rectangle 18"/>
          <p:cNvSpPr/>
          <p:nvPr/>
        </p:nvSpPr>
        <p:spPr>
          <a:xfrm>
            <a:off x="320040" y="2651760"/>
            <a:ext cx="54360" cy="767880"/>
          </a:xfrm>
          <a:prstGeom prst="rect">
            <a:avLst/>
          </a:prstGeom>
          <a:solidFill>
            <a:srgbClr val="00E5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7" name="TextBox 19"/>
          <p:cNvSpPr/>
          <p:nvPr/>
        </p:nvSpPr>
        <p:spPr>
          <a:xfrm>
            <a:off x="548640" y="2724840"/>
            <a:ext cx="2742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E5A0"/>
                </a:solidFill>
                <a:effectLst/>
                <a:uFillTx/>
                <a:latin typeface="Consolas"/>
              </a:rPr>
              <a:t>dim_crops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20"/>
          <p:cNvSpPr/>
          <p:nvPr/>
        </p:nvSpPr>
        <p:spPr>
          <a:xfrm>
            <a:off x="548640" y="309060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B8499"/>
                </a:solidFill>
                <a:effectLst/>
                <a:uFillTx/>
                <a:latin typeface="Consolas"/>
              </a:rPr>
              <a:t>PK: crop_id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21"/>
          <p:cNvSpPr/>
          <p:nvPr/>
        </p:nvSpPr>
        <p:spPr>
          <a:xfrm>
            <a:off x="3429000" y="2871360"/>
            <a:ext cx="10969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BBF24"/>
                </a:solidFill>
                <a:effectLst/>
                <a:uFillTx/>
                <a:latin typeface="Calibri"/>
              </a:rPr>
              <a:t>25 rows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22"/>
          <p:cNvSpPr/>
          <p:nvPr/>
        </p:nvSpPr>
        <p:spPr>
          <a:xfrm>
            <a:off x="4754880" y="2871360"/>
            <a:ext cx="6949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Crop profiles — NPK ranges per region (5×5)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Rectangle 23"/>
          <p:cNvSpPr/>
          <p:nvPr/>
        </p:nvSpPr>
        <p:spPr>
          <a:xfrm>
            <a:off x="320040" y="3529440"/>
            <a:ext cx="11548440" cy="76788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2" name="Rectangle 24"/>
          <p:cNvSpPr/>
          <p:nvPr/>
        </p:nvSpPr>
        <p:spPr>
          <a:xfrm>
            <a:off x="320040" y="3529440"/>
            <a:ext cx="54360" cy="767880"/>
          </a:xfrm>
          <a:prstGeom prst="rect">
            <a:avLst/>
          </a:prstGeom>
          <a:solidFill>
            <a:srgbClr val="FBBF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3" name="TextBox 25"/>
          <p:cNvSpPr/>
          <p:nvPr/>
        </p:nvSpPr>
        <p:spPr>
          <a:xfrm>
            <a:off x="548640" y="3602880"/>
            <a:ext cx="2742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BBF24"/>
                </a:solidFill>
                <a:effectLst/>
                <a:uFillTx/>
                <a:latin typeface="Consolas"/>
              </a:rPr>
              <a:t>fact_sensor_readings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26"/>
          <p:cNvSpPr/>
          <p:nvPr/>
        </p:nvSpPr>
        <p:spPr>
          <a:xfrm>
            <a:off x="548640" y="396864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B8499"/>
                </a:solidFill>
                <a:effectLst/>
                <a:uFillTx/>
                <a:latin typeface="Consolas"/>
              </a:rPr>
              <a:t>PK: reading_id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27"/>
          <p:cNvSpPr/>
          <p:nvPr/>
        </p:nvSpPr>
        <p:spPr>
          <a:xfrm>
            <a:off x="3429000" y="3749040"/>
            <a:ext cx="10969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BBF24"/>
                </a:solidFill>
                <a:effectLst/>
                <a:uFillTx/>
                <a:latin typeface="Calibri"/>
              </a:rPr>
              <a:t>500→∞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Box 28"/>
          <p:cNvSpPr/>
          <p:nvPr/>
        </p:nvSpPr>
        <p:spPr>
          <a:xfrm>
            <a:off x="4754880" y="3749040"/>
            <a:ext cx="6949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PRIMARY FACT — live IoT stream, partitioned by date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Rectangle 29"/>
          <p:cNvSpPr/>
          <p:nvPr/>
        </p:nvSpPr>
        <p:spPr>
          <a:xfrm>
            <a:off x="320040" y="4407480"/>
            <a:ext cx="11548440" cy="76788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8" name="Rectangle 30"/>
          <p:cNvSpPr/>
          <p:nvPr/>
        </p:nvSpPr>
        <p:spPr>
          <a:xfrm>
            <a:off x="320040" y="4407480"/>
            <a:ext cx="54360" cy="767880"/>
          </a:xfrm>
          <a:prstGeom prst="rect">
            <a:avLst/>
          </a:prstGeom>
          <a:solidFill>
            <a:srgbClr val="FBBF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9" name="TextBox 31"/>
          <p:cNvSpPr/>
          <p:nvPr/>
        </p:nvSpPr>
        <p:spPr>
          <a:xfrm>
            <a:off x="548640" y="4480560"/>
            <a:ext cx="2742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BBF24"/>
                </a:solidFill>
                <a:effectLst/>
                <a:uFillTx/>
                <a:latin typeface="Consolas"/>
              </a:rPr>
              <a:t>fact_yield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Box 32"/>
          <p:cNvSpPr/>
          <p:nvPr/>
        </p:nvSpPr>
        <p:spPr>
          <a:xfrm>
            <a:off x="548640" y="484632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B8499"/>
                </a:solidFill>
                <a:effectLst/>
                <a:uFillTx/>
                <a:latin typeface="Consolas"/>
              </a:rPr>
              <a:t>PK: yield_id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33"/>
          <p:cNvSpPr/>
          <p:nvPr/>
        </p:nvSpPr>
        <p:spPr>
          <a:xfrm>
            <a:off x="3429000" y="4626720"/>
            <a:ext cx="10969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BBF24"/>
                </a:solidFill>
                <a:effectLst/>
                <a:uFillTx/>
                <a:latin typeface="Calibri"/>
              </a:rPr>
              <a:t>500 rows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Box 34"/>
          <p:cNvSpPr/>
          <p:nvPr/>
        </p:nvSpPr>
        <p:spPr>
          <a:xfrm>
            <a:off x="4754880" y="4626720"/>
            <a:ext cx="6949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Harvest outcomes — yield kg/ha, NDVI, sowing/harvest dates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Rectangle 35"/>
          <p:cNvSpPr/>
          <p:nvPr/>
        </p:nvSpPr>
        <p:spPr>
          <a:xfrm>
            <a:off x="320040" y="5285160"/>
            <a:ext cx="11548440" cy="76788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4" name="Rectangle 36"/>
          <p:cNvSpPr/>
          <p:nvPr/>
        </p:nvSpPr>
        <p:spPr>
          <a:xfrm>
            <a:off x="320040" y="5285160"/>
            <a:ext cx="54360" cy="76788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5" name="TextBox 37"/>
          <p:cNvSpPr/>
          <p:nvPr/>
        </p:nvSpPr>
        <p:spPr>
          <a:xfrm>
            <a:off x="548640" y="5358240"/>
            <a:ext cx="2742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fact_weather_api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38"/>
          <p:cNvSpPr/>
          <p:nvPr/>
        </p:nvSpPr>
        <p:spPr>
          <a:xfrm>
            <a:off x="548640" y="572400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B8499"/>
                </a:solidFill>
                <a:effectLst/>
                <a:uFillTx/>
                <a:latin typeface="Consolas"/>
              </a:rPr>
              <a:t>PK: weather_id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Box 39"/>
          <p:cNvSpPr/>
          <p:nvPr/>
        </p:nvSpPr>
        <p:spPr>
          <a:xfrm>
            <a:off x="3429000" y="5504760"/>
            <a:ext cx="10969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BBF24"/>
                </a:solidFill>
                <a:effectLst/>
                <a:uFillTx/>
                <a:latin typeface="Calibri"/>
              </a:rPr>
              <a:t>Hourly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Box 40"/>
          <p:cNvSpPr/>
          <p:nvPr/>
        </p:nvSpPr>
        <p:spPr>
          <a:xfrm>
            <a:off x="4754880" y="5504760"/>
            <a:ext cx="694908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OWM weather per region — temperature, rain, </a:t>
            </a:r>
            <a:r>
              <a:rPr lang="en-US" sz="10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UV, wind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Rectangle 41"/>
          <p:cNvSpPr/>
          <p:nvPr/>
        </p:nvSpPr>
        <p:spPr>
          <a:xfrm>
            <a:off x="320040" y="6172200"/>
            <a:ext cx="11548440" cy="41112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0" name="TextBox 42"/>
          <p:cNvSpPr/>
          <p:nvPr/>
        </p:nvSpPr>
        <p:spPr>
          <a:xfrm>
            <a:off x="457200" y="6236280"/>
            <a:ext cx="11246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B8499"/>
                </a:solidFill>
                <a:effectLst/>
                <a:uFillTx/>
                <a:latin typeface="Calibri"/>
              </a:rPr>
              <a:t>Foreign Keys (NOT ENFORCED):  fact_sensor_readings → dim_farms (farm_id)  ·  → dim_regions (region_id)  |  fact_yield → dim_farms · dim_regions  |  fact_weather_api → dim_regions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B1F0F"/>
          </a:solidFill>
          <a:ln>
            <a:solidFill>
              <a:srgbClr val="0B1F0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2" name="Rectangle 2"/>
          <p:cNvSpPr/>
          <p:nvPr/>
        </p:nvSpPr>
        <p:spPr>
          <a:xfrm>
            <a:off x="0" y="0"/>
            <a:ext cx="12188520" cy="685440"/>
          </a:xfrm>
          <a:prstGeom prst="rect">
            <a:avLst/>
          </a:prstGeom>
          <a:solidFill>
            <a:srgbClr val="0F3D1F"/>
          </a:solidFill>
          <a:ln>
            <a:solidFill>
              <a:srgbClr val="0F3D1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3" name="TextBox 3"/>
          <p:cNvSpPr/>
          <p:nvPr/>
        </p:nvSpPr>
        <p:spPr>
          <a:xfrm>
            <a:off x="365760" y="164520"/>
            <a:ext cx="10972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DATA CLEANING &amp; ETL PIPELINE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Rectangle 4"/>
          <p:cNvSpPr/>
          <p:nvPr/>
        </p:nvSpPr>
        <p:spPr>
          <a:xfrm>
            <a:off x="0" y="685800"/>
            <a:ext cx="12188520" cy="36360"/>
          </a:xfrm>
          <a:prstGeom prst="rect">
            <a:avLst/>
          </a:prstGeom>
          <a:solidFill>
            <a:srgbClr val="00E5A0"/>
          </a:solidFill>
          <a:ln>
            <a:solidFill>
              <a:srgbClr val="00E5A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5" name="Rectangle 5"/>
          <p:cNvSpPr/>
          <p:nvPr/>
        </p:nvSpPr>
        <p:spPr>
          <a:xfrm>
            <a:off x="320040" y="914400"/>
            <a:ext cx="5760360" cy="153576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6" name="Rectangle 6"/>
          <p:cNvSpPr/>
          <p:nvPr/>
        </p:nvSpPr>
        <p:spPr>
          <a:xfrm>
            <a:off x="320040" y="914400"/>
            <a:ext cx="54360" cy="1535760"/>
          </a:xfrm>
          <a:prstGeom prst="rect">
            <a:avLst/>
          </a:prstGeom>
          <a:solidFill>
            <a:srgbClr val="00E5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7" name="Oval 7"/>
          <p:cNvSpPr/>
          <p:nvPr/>
        </p:nvSpPr>
        <p:spPr>
          <a:xfrm>
            <a:off x="484560" y="1078920"/>
            <a:ext cx="502560" cy="502560"/>
          </a:xfrm>
          <a:prstGeom prst="ellipse">
            <a:avLst/>
          </a:prstGeom>
          <a:solidFill>
            <a:srgbClr val="00E5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8" name="TextBox 8"/>
          <p:cNvSpPr/>
          <p:nvPr/>
        </p:nvSpPr>
        <p:spPr>
          <a:xfrm>
            <a:off x="484560" y="10789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B1F0F"/>
                </a:solidFill>
                <a:effectLst/>
                <a:uFillTx/>
                <a:latin typeface="Calibri"/>
              </a:rPr>
              <a:t>01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Box 9"/>
          <p:cNvSpPr/>
          <p:nvPr/>
        </p:nvSpPr>
        <p:spPr>
          <a:xfrm>
            <a:off x="1097280" y="1078920"/>
            <a:ext cx="4845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Load CSVs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Box 10"/>
          <p:cNvSpPr/>
          <p:nvPr/>
        </p:nvSpPr>
        <p:spPr>
          <a:xfrm>
            <a:off x="521280" y="1664280"/>
            <a:ext cx="5394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pandas read_csv() loads Yield (500 rows) and Crop Rec. (2500 rows) datasets into DataFrames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Rectangle 11"/>
          <p:cNvSpPr/>
          <p:nvPr/>
        </p:nvSpPr>
        <p:spPr>
          <a:xfrm>
            <a:off x="6263640" y="914400"/>
            <a:ext cx="5760360" cy="153576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2" name="Rectangle 12"/>
          <p:cNvSpPr/>
          <p:nvPr/>
        </p:nvSpPr>
        <p:spPr>
          <a:xfrm>
            <a:off x="6263640" y="914400"/>
            <a:ext cx="54360" cy="153576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3" name="Oval 13"/>
          <p:cNvSpPr/>
          <p:nvPr/>
        </p:nvSpPr>
        <p:spPr>
          <a:xfrm>
            <a:off x="6428160" y="1078920"/>
            <a:ext cx="502560" cy="502560"/>
          </a:xfrm>
          <a:prstGeom prst="ellipse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4" name="TextBox 14"/>
          <p:cNvSpPr/>
          <p:nvPr/>
        </p:nvSpPr>
        <p:spPr>
          <a:xfrm>
            <a:off x="6428160" y="10789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B1F0F"/>
                </a:solidFill>
                <a:effectLst/>
                <a:uFillTx/>
                <a:latin typeface="Calibri"/>
              </a:rPr>
              <a:t>02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Box 15"/>
          <p:cNvSpPr/>
          <p:nvPr/>
        </p:nvSpPr>
        <p:spPr>
          <a:xfrm>
            <a:off x="7040880" y="1078920"/>
            <a:ext cx="48459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Handle Nulls And Duplicate values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Box 16"/>
          <p:cNvSpPr/>
          <p:nvPr/>
        </p:nvSpPr>
        <p:spPr>
          <a:xfrm>
            <a:off x="6464880" y="1664280"/>
            <a:ext cx="5394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irrigation_type: 150 nulls → filled 'Unknown'  ·  crop_disease_status: removed from project scope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Rectangle 17"/>
          <p:cNvSpPr/>
          <p:nvPr/>
        </p:nvSpPr>
        <p:spPr>
          <a:xfrm>
            <a:off x="320040" y="2578680"/>
            <a:ext cx="5760360" cy="153576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8" name="Rectangle 18"/>
          <p:cNvSpPr/>
          <p:nvPr/>
        </p:nvSpPr>
        <p:spPr>
          <a:xfrm>
            <a:off x="320040" y="2578680"/>
            <a:ext cx="54360" cy="1535760"/>
          </a:xfrm>
          <a:prstGeom prst="rect">
            <a:avLst/>
          </a:prstGeom>
          <a:solidFill>
            <a:srgbClr val="FBBF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9" name="Oval 19"/>
          <p:cNvSpPr/>
          <p:nvPr/>
        </p:nvSpPr>
        <p:spPr>
          <a:xfrm>
            <a:off x="484560" y="2743200"/>
            <a:ext cx="502560" cy="502560"/>
          </a:xfrm>
          <a:prstGeom prst="ellipse">
            <a:avLst/>
          </a:prstGeom>
          <a:solidFill>
            <a:srgbClr val="FBBF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0" name="TextBox 20"/>
          <p:cNvSpPr/>
          <p:nvPr/>
        </p:nvSpPr>
        <p:spPr>
          <a:xfrm>
            <a:off x="484560" y="274320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B1F0F"/>
                </a:solidFill>
                <a:effectLst/>
                <a:uFillTx/>
                <a:latin typeface="Calibri"/>
              </a:rPr>
              <a:t>03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Box 21"/>
          <p:cNvSpPr/>
          <p:nvPr/>
        </p:nvSpPr>
        <p:spPr>
          <a:xfrm>
            <a:off x="1097280" y="2743200"/>
            <a:ext cx="4845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BBF24"/>
                </a:solidFill>
                <a:effectLst/>
                <a:uFillTx/>
                <a:latin typeface="Calibri"/>
              </a:rPr>
              <a:t>Standardize Crop Names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Box 22"/>
          <p:cNvSpPr/>
          <p:nvPr/>
        </p:nvSpPr>
        <p:spPr>
          <a:xfrm>
            <a:off x="521280" y="3328560"/>
            <a:ext cx="5394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Crop Rec. CSV uses lowercase labels → .str.title() converts wheat→Wheat, rice→Rice etc.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Rectangle 23"/>
          <p:cNvSpPr/>
          <p:nvPr/>
        </p:nvSpPr>
        <p:spPr>
          <a:xfrm>
            <a:off x="6263640" y="2578680"/>
            <a:ext cx="5760360" cy="153576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4" name="Rectangle 24"/>
          <p:cNvSpPr/>
          <p:nvPr/>
        </p:nvSpPr>
        <p:spPr>
          <a:xfrm>
            <a:off x="6263640" y="2578680"/>
            <a:ext cx="54360" cy="1535760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5" name="Oval 25"/>
          <p:cNvSpPr/>
          <p:nvPr/>
        </p:nvSpPr>
        <p:spPr>
          <a:xfrm>
            <a:off x="6428160" y="2743200"/>
            <a:ext cx="502560" cy="502560"/>
          </a:xfrm>
          <a:prstGeom prst="ellipse">
            <a:avLst/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6" name="TextBox 26"/>
          <p:cNvSpPr/>
          <p:nvPr/>
        </p:nvSpPr>
        <p:spPr>
          <a:xfrm>
            <a:off x="6428160" y="274320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B1F0F"/>
                </a:solidFill>
                <a:effectLst/>
                <a:uFillTx/>
                <a:latin typeface="Calibri"/>
              </a:rPr>
              <a:t>04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Box 27"/>
          <p:cNvSpPr/>
          <p:nvPr/>
        </p:nvSpPr>
        <p:spPr>
          <a:xfrm>
            <a:off x="7040880" y="2743200"/>
            <a:ext cx="4845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87171"/>
                </a:solidFill>
                <a:effectLst/>
                <a:uFillTx/>
                <a:latin typeface="Calibri"/>
              </a:rPr>
              <a:t>Compute ET₀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Box 28"/>
          <p:cNvSpPr/>
          <p:nvPr/>
        </p:nvSpPr>
        <p:spPr>
          <a:xfrm>
            <a:off x="6464880" y="3328560"/>
            <a:ext cx="5394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Hargreaves formula: ET0 = 0.0023 × (T+17.8) × √sunlight × 0.408 (FAO-56 simplified)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Rectangle 29"/>
          <p:cNvSpPr/>
          <p:nvPr/>
        </p:nvSpPr>
        <p:spPr>
          <a:xfrm>
            <a:off x="320040" y="4242960"/>
            <a:ext cx="5760360" cy="153576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0" name="Rectangle 30"/>
          <p:cNvSpPr/>
          <p:nvPr/>
        </p:nvSpPr>
        <p:spPr>
          <a:xfrm>
            <a:off x="320040" y="4242960"/>
            <a:ext cx="54360" cy="1535760"/>
          </a:xfrm>
          <a:prstGeom prst="rect">
            <a:avLst/>
          </a:prstGeom>
          <a:solidFill>
            <a:srgbClr val="00E5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1" name="Oval 31"/>
          <p:cNvSpPr/>
          <p:nvPr/>
        </p:nvSpPr>
        <p:spPr>
          <a:xfrm>
            <a:off x="484560" y="4407480"/>
            <a:ext cx="502560" cy="502560"/>
          </a:xfrm>
          <a:prstGeom prst="ellipse">
            <a:avLst/>
          </a:prstGeom>
          <a:solidFill>
            <a:srgbClr val="00E5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2" name="TextBox 32"/>
          <p:cNvSpPr/>
          <p:nvPr/>
        </p:nvSpPr>
        <p:spPr>
          <a:xfrm>
            <a:off x="484560" y="44074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B1F0F"/>
                </a:solidFill>
                <a:effectLst/>
                <a:uFillTx/>
                <a:latin typeface="Calibri"/>
              </a:rPr>
              <a:t>05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Box 33"/>
          <p:cNvSpPr/>
          <p:nvPr/>
        </p:nvSpPr>
        <p:spPr>
          <a:xfrm>
            <a:off x="1097280" y="4407480"/>
            <a:ext cx="4845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IQR Anomaly Detection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Box 34"/>
          <p:cNvSpPr/>
          <p:nvPr/>
        </p:nvSpPr>
        <p:spPr>
          <a:xfrm>
            <a:off x="521280" y="4992480"/>
            <a:ext cx="5394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Per column: flag if value &lt; Q1 - 1.5×IQR  or  &gt; Q3 + 1.5×IQR → sets anomaly_flag = 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Rectangle 35"/>
          <p:cNvSpPr/>
          <p:nvPr/>
        </p:nvSpPr>
        <p:spPr>
          <a:xfrm>
            <a:off x="6263640" y="4242960"/>
            <a:ext cx="5760360" cy="153576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6" name="Rectangle 36"/>
          <p:cNvSpPr/>
          <p:nvPr/>
        </p:nvSpPr>
        <p:spPr>
          <a:xfrm>
            <a:off x="6263640" y="4242960"/>
            <a:ext cx="54360" cy="153576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7" name="Oval 37"/>
          <p:cNvSpPr/>
          <p:nvPr/>
        </p:nvSpPr>
        <p:spPr>
          <a:xfrm>
            <a:off x="6428160" y="4407480"/>
            <a:ext cx="502560" cy="502560"/>
          </a:xfrm>
          <a:prstGeom prst="ellipse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8" name="TextBox 38"/>
          <p:cNvSpPr/>
          <p:nvPr/>
        </p:nvSpPr>
        <p:spPr>
          <a:xfrm>
            <a:off x="6428160" y="44074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B1F0F"/>
                </a:solidFill>
                <a:effectLst/>
                <a:uFillTx/>
                <a:latin typeface="Calibri"/>
              </a:rPr>
              <a:t>06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Box 39"/>
          <p:cNvSpPr/>
          <p:nvPr/>
        </p:nvSpPr>
        <p:spPr>
          <a:xfrm>
            <a:off x="7040880" y="4407480"/>
            <a:ext cx="4845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Load to BigQuery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Box 40"/>
          <p:cNvSpPr/>
          <p:nvPr/>
        </p:nvSpPr>
        <p:spPr>
          <a:xfrm>
            <a:off x="6464880" y="4992480"/>
            <a:ext cx="5394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load_table_from_json() with WRITE_APPEND — 100% free tier compatible, no streaming API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Rectangle 41"/>
          <p:cNvSpPr/>
          <p:nvPr/>
        </p:nvSpPr>
        <p:spPr>
          <a:xfrm>
            <a:off x="0" y="6355080"/>
            <a:ext cx="12188520" cy="502560"/>
          </a:xfrm>
          <a:prstGeom prst="rect">
            <a:avLst/>
          </a:prstGeom>
          <a:solidFill>
            <a:srgbClr val="07140A"/>
          </a:solidFill>
          <a:ln>
            <a:solidFill>
              <a:srgbClr val="07140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2" name="TextBox 42"/>
          <p:cNvSpPr/>
          <p:nvPr/>
        </p:nvSpPr>
        <p:spPr>
          <a:xfrm>
            <a:off x="274320" y="6400800"/>
            <a:ext cx="11612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B8499"/>
                </a:solidFill>
                <a:effectLst/>
                <a:uFillTx/>
                <a:latin typeface="Calibri"/>
              </a:rPr>
              <a:t>AgroSense Analytics  ·  Real-Time Smart Farm Monitoring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B1F0F"/>
          </a:solidFill>
          <a:ln>
            <a:solidFill>
              <a:srgbClr val="0B1F0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4" name="Rectangle 2"/>
          <p:cNvSpPr/>
          <p:nvPr/>
        </p:nvSpPr>
        <p:spPr>
          <a:xfrm>
            <a:off x="0" y="0"/>
            <a:ext cx="12188520" cy="685440"/>
          </a:xfrm>
          <a:prstGeom prst="rect">
            <a:avLst/>
          </a:prstGeom>
          <a:solidFill>
            <a:srgbClr val="0F3D1F"/>
          </a:solidFill>
          <a:ln>
            <a:solidFill>
              <a:srgbClr val="0F3D1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5" name="TextBox 3"/>
          <p:cNvSpPr/>
          <p:nvPr/>
        </p:nvSpPr>
        <p:spPr>
          <a:xfrm>
            <a:off x="365760" y="164520"/>
            <a:ext cx="10972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LIVE IoT STREAM SIMULATION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Rectangle 4"/>
          <p:cNvSpPr/>
          <p:nvPr/>
        </p:nvSpPr>
        <p:spPr>
          <a:xfrm>
            <a:off x="0" y="685800"/>
            <a:ext cx="12188520" cy="36360"/>
          </a:xfrm>
          <a:prstGeom prst="rect">
            <a:avLst/>
          </a:prstGeom>
          <a:solidFill>
            <a:srgbClr val="00E5A0"/>
          </a:solidFill>
          <a:ln>
            <a:solidFill>
              <a:srgbClr val="00E5A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7" name="Rectangle 5"/>
          <p:cNvSpPr/>
          <p:nvPr/>
        </p:nvSpPr>
        <p:spPr>
          <a:xfrm>
            <a:off x="320040" y="914400"/>
            <a:ext cx="5486040" cy="512028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8" name="Rectangle 6"/>
          <p:cNvSpPr/>
          <p:nvPr/>
        </p:nvSpPr>
        <p:spPr>
          <a:xfrm>
            <a:off x="320040" y="914400"/>
            <a:ext cx="54360" cy="5120280"/>
          </a:xfrm>
          <a:prstGeom prst="rect">
            <a:avLst/>
          </a:prstGeom>
          <a:solidFill>
            <a:srgbClr val="00E5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9" name="TextBox 7"/>
          <p:cNvSpPr/>
          <p:nvPr/>
        </p:nvSpPr>
        <p:spPr>
          <a:xfrm>
            <a:off x="548640" y="1005840"/>
            <a:ext cx="5120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How the Scheduler Works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Box 8"/>
          <p:cNvSpPr/>
          <p:nvPr/>
        </p:nvSpPr>
        <p:spPr>
          <a:xfrm>
            <a:off x="548640" y="1481400"/>
            <a:ext cx="5120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▸  Reads 500-row Yield CSV into pandas DataFrame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Box 9"/>
          <p:cNvSpPr/>
          <p:nvPr/>
        </p:nvSpPr>
        <p:spPr>
          <a:xfrm>
            <a:off x="548640" y="1938600"/>
            <a:ext cx="5120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▸  Loops through rows continuously (pointer % 500)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Box 10"/>
          <p:cNvSpPr/>
          <p:nvPr/>
        </p:nvSpPr>
        <p:spPr>
          <a:xfrm>
            <a:off x="548640" y="2395800"/>
            <a:ext cx="512028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▸  Adds Gaussian sensor noise to each reading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Box 11"/>
          <p:cNvSpPr/>
          <p:nvPr/>
        </p:nvSpPr>
        <p:spPr>
          <a:xfrm>
            <a:off x="548640" y="2853000"/>
            <a:ext cx="5120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▸  Computes ET₀ using Hargreaves formula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Box 12"/>
          <p:cNvSpPr/>
          <p:nvPr/>
        </p:nvSpPr>
        <p:spPr>
          <a:xfrm>
            <a:off x="548640" y="3310200"/>
            <a:ext cx="5120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▸  Runs IQR anomaly detection on 3 metrics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Box 13"/>
          <p:cNvSpPr/>
          <p:nvPr/>
        </p:nvSpPr>
        <p:spPr>
          <a:xfrm>
            <a:off x="548640" y="3767400"/>
            <a:ext cx="5120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▸  Fetches region_id LIVE from dim_regions table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Box 14"/>
          <p:cNvSpPr/>
          <p:nvPr/>
        </p:nvSpPr>
        <p:spPr>
          <a:xfrm>
            <a:off x="548640" y="4224600"/>
            <a:ext cx="5120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▸  Batches 5 records every 30 seconds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Box 15"/>
          <p:cNvSpPr/>
          <p:nvPr/>
        </p:nvSpPr>
        <p:spPr>
          <a:xfrm>
            <a:off x="548640" y="4681800"/>
            <a:ext cx="5120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▸  Inserts via load_table_from_json() — FREE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Box 16"/>
          <p:cNvSpPr/>
          <p:nvPr/>
        </p:nvSpPr>
        <p:spPr>
          <a:xfrm>
            <a:off x="548640" y="5139000"/>
            <a:ext cx="5120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▸  Handles Ctrl+C gracefully with row summary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Rectangle 17"/>
          <p:cNvSpPr/>
          <p:nvPr/>
        </p:nvSpPr>
        <p:spPr>
          <a:xfrm>
            <a:off x="6080760" y="914400"/>
            <a:ext cx="5787720" cy="237708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0" name="Rectangle 18"/>
          <p:cNvSpPr/>
          <p:nvPr/>
        </p:nvSpPr>
        <p:spPr>
          <a:xfrm>
            <a:off x="6080760" y="914400"/>
            <a:ext cx="54360" cy="2377080"/>
          </a:xfrm>
          <a:prstGeom prst="rect">
            <a:avLst/>
          </a:prstGeom>
          <a:solidFill>
            <a:srgbClr val="FBBF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1" name="TextBox 19"/>
          <p:cNvSpPr/>
          <p:nvPr/>
        </p:nvSpPr>
        <p:spPr>
          <a:xfrm>
            <a:off x="6309360" y="1005840"/>
            <a:ext cx="5394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BBF24"/>
                </a:solidFill>
                <a:effectLst/>
                <a:uFillTx/>
                <a:latin typeface="Calibri"/>
              </a:rPr>
              <a:t>Stream Performance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Box 20"/>
          <p:cNvSpPr/>
          <p:nvPr/>
        </p:nvSpPr>
        <p:spPr>
          <a:xfrm>
            <a:off x="6309360" y="1444680"/>
            <a:ext cx="2377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BBF24"/>
                </a:solidFill>
                <a:effectLst/>
                <a:uFillTx/>
                <a:latin typeface="Calibri"/>
              </a:rPr>
              <a:t>5 rows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Box 21"/>
          <p:cNvSpPr/>
          <p:nvPr/>
        </p:nvSpPr>
        <p:spPr>
          <a:xfrm>
            <a:off x="6309360" y="1764720"/>
            <a:ext cx="2377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B8499"/>
                </a:solidFill>
                <a:effectLst/>
                <a:uFillTx/>
                <a:latin typeface="Calibri"/>
              </a:rPr>
              <a:t>per batch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Box 22"/>
          <p:cNvSpPr/>
          <p:nvPr/>
        </p:nvSpPr>
        <p:spPr>
          <a:xfrm>
            <a:off x="8961120" y="1444680"/>
            <a:ext cx="2377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BBF24"/>
                </a:solidFill>
                <a:effectLst/>
                <a:uFillTx/>
                <a:latin typeface="Calibri"/>
              </a:rPr>
              <a:t>30 sec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Box 23"/>
          <p:cNvSpPr/>
          <p:nvPr/>
        </p:nvSpPr>
        <p:spPr>
          <a:xfrm>
            <a:off x="8961120" y="1764720"/>
            <a:ext cx="2377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B8499"/>
                </a:solidFill>
                <a:effectLst/>
                <a:uFillTx/>
                <a:latin typeface="Calibri"/>
              </a:rPr>
              <a:t>interval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Box 24"/>
          <p:cNvSpPr/>
          <p:nvPr/>
        </p:nvSpPr>
        <p:spPr>
          <a:xfrm>
            <a:off x="6309360" y="2066400"/>
            <a:ext cx="23770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BBF24"/>
                </a:solidFill>
                <a:effectLst/>
                <a:uFillTx/>
                <a:latin typeface="Calibri"/>
              </a:rPr>
              <a:t>600 rows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Box 25"/>
          <p:cNvSpPr/>
          <p:nvPr/>
        </p:nvSpPr>
        <p:spPr>
          <a:xfrm>
            <a:off x="6309360" y="2386440"/>
            <a:ext cx="2377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B8499"/>
                </a:solidFill>
                <a:effectLst/>
                <a:uFillTx/>
                <a:latin typeface="Calibri"/>
              </a:rPr>
              <a:t>per hour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Box 26"/>
          <p:cNvSpPr/>
          <p:nvPr/>
        </p:nvSpPr>
        <p:spPr>
          <a:xfrm>
            <a:off x="8961120" y="2066400"/>
            <a:ext cx="23770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BBF24"/>
                </a:solidFill>
                <a:effectLst/>
                <a:uFillTx/>
                <a:latin typeface="Calibri"/>
              </a:rPr>
              <a:t>14,400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Box 27"/>
          <p:cNvSpPr/>
          <p:nvPr/>
        </p:nvSpPr>
        <p:spPr>
          <a:xfrm>
            <a:off x="8961120" y="2386440"/>
            <a:ext cx="2377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B8499"/>
                </a:solidFill>
                <a:effectLst/>
                <a:uFillTx/>
                <a:latin typeface="Calibri"/>
              </a:rPr>
              <a:t>rows per day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Box 28"/>
          <p:cNvSpPr/>
          <p:nvPr/>
        </p:nvSpPr>
        <p:spPr>
          <a:xfrm>
            <a:off x="6309360" y="2688480"/>
            <a:ext cx="2377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BBF24"/>
                </a:solidFill>
                <a:effectLst/>
                <a:uFillTx/>
                <a:latin typeface="Calibri"/>
              </a:rPr>
              <a:t>Free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Box 29"/>
          <p:cNvSpPr/>
          <p:nvPr/>
        </p:nvSpPr>
        <p:spPr>
          <a:xfrm>
            <a:off x="6309360" y="3008520"/>
            <a:ext cx="2377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B8499"/>
                </a:solidFill>
                <a:effectLst/>
                <a:uFillTx/>
                <a:latin typeface="Calibri"/>
              </a:rPr>
              <a:t>no billing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Rectangle 30"/>
          <p:cNvSpPr/>
          <p:nvPr/>
        </p:nvSpPr>
        <p:spPr>
          <a:xfrm>
            <a:off x="6080760" y="3474720"/>
            <a:ext cx="5787720" cy="255996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3" name="Rectangle 31"/>
          <p:cNvSpPr/>
          <p:nvPr/>
        </p:nvSpPr>
        <p:spPr>
          <a:xfrm>
            <a:off x="6080760" y="3474720"/>
            <a:ext cx="54360" cy="2559960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4" name="TextBox 32"/>
          <p:cNvSpPr/>
          <p:nvPr/>
        </p:nvSpPr>
        <p:spPr>
          <a:xfrm>
            <a:off x="6309360" y="3566160"/>
            <a:ext cx="5394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87171"/>
                </a:solidFill>
                <a:effectLst/>
                <a:uFillTx/>
                <a:latin typeface="Calibri"/>
              </a:rPr>
              <a:t>Anomaly Detection Logic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Box 33"/>
          <p:cNvSpPr/>
          <p:nvPr/>
        </p:nvSpPr>
        <p:spPr>
          <a:xfrm>
            <a:off x="6309360" y="4041720"/>
            <a:ext cx="5394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▸  Moisture &lt; 12% or &gt; 43%  → anomaly_moisture = 1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Box 34"/>
          <p:cNvSpPr/>
          <p:nvPr/>
        </p:nvSpPr>
        <p:spPr>
          <a:xfrm>
            <a:off x="6309360" y="4425840"/>
            <a:ext cx="5394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▸  Temperature &lt; 16°C or &gt; 33°C  → anomaly_temp = 1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Box 35"/>
          <p:cNvSpPr/>
          <p:nvPr/>
        </p:nvSpPr>
        <p:spPr>
          <a:xfrm>
            <a:off x="6309360" y="4809600"/>
            <a:ext cx="5394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▸  Humidity &lt; 42% or &gt; 88%  → anomaly_humidity = 1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Box 36"/>
          <p:cNvSpPr/>
          <p:nvPr/>
        </p:nvSpPr>
        <p:spPr>
          <a:xfrm>
            <a:off x="6309360" y="5193720"/>
            <a:ext cx="5394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▸  anomaly_flag = MAX(am, at, ah)  (any = overall flag)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Box 37"/>
          <p:cNvSpPr/>
          <p:nvPr/>
        </p:nvSpPr>
        <p:spPr>
          <a:xfrm>
            <a:off x="6309360" y="5577840"/>
            <a:ext cx="5394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▸  Severity: Critical | Warning | Normal in Looker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Rectangle 38"/>
          <p:cNvSpPr/>
          <p:nvPr/>
        </p:nvSpPr>
        <p:spPr>
          <a:xfrm>
            <a:off x="0" y="6355080"/>
            <a:ext cx="12188520" cy="502560"/>
          </a:xfrm>
          <a:prstGeom prst="rect">
            <a:avLst/>
          </a:prstGeom>
          <a:solidFill>
            <a:srgbClr val="07140A"/>
          </a:solidFill>
          <a:ln>
            <a:solidFill>
              <a:srgbClr val="07140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1" name="TextBox 39"/>
          <p:cNvSpPr/>
          <p:nvPr/>
        </p:nvSpPr>
        <p:spPr>
          <a:xfrm>
            <a:off x="274320" y="6400800"/>
            <a:ext cx="11612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B8499"/>
                </a:solidFill>
                <a:effectLst/>
                <a:uFillTx/>
                <a:latin typeface="Calibri"/>
              </a:rPr>
              <a:t>AgroSense Analytics  ·  Real-Time Smart Farm Monitoring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B1F0F"/>
          </a:solidFill>
          <a:ln>
            <a:solidFill>
              <a:srgbClr val="0B1F0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3" name="Rectangle 2"/>
          <p:cNvSpPr/>
          <p:nvPr/>
        </p:nvSpPr>
        <p:spPr>
          <a:xfrm>
            <a:off x="0" y="0"/>
            <a:ext cx="12188520" cy="685440"/>
          </a:xfrm>
          <a:prstGeom prst="rect">
            <a:avLst/>
          </a:prstGeom>
          <a:solidFill>
            <a:srgbClr val="0F3D1F"/>
          </a:solidFill>
          <a:ln>
            <a:solidFill>
              <a:srgbClr val="0F3D1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4" name="TextBox 3"/>
          <p:cNvSpPr/>
          <p:nvPr/>
        </p:nvSpPr>
        <p:spPr>
          <a:xfrm>
            <a:off x="365760" y="164520"/>
            <a:ext cx="10972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KEY FINDINGS &amp; INSIGHTS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Rectangle 4"/>
          <p:cNvSpPr/>
          <p:nvPr/>
        </p:nvSpPr>
        <p:spPr>
          <a:xfrm>
            <a:off x="0" y="685800"/>
            <a:ext cx="12188520" cy="36360"/>
          </a:xfrm>
          <a:prstGeom prst="rect">
            <a:avLst/>
          </a:prstGeom>
          <a:solidFill>
            <a:srgbClr val="00E5A0"/>
          </a:solidFill>
          <a:ln>
            <a:solidFill>
              <a:srgbClr val="00E5A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6" name="Rectangle 5"/>
          <p:cNvSpPr/>
          <p:nvPr/>
        </p:nvSpPr>
        <p:spPr>
          <a:xfrm>
            <a:off x="320040" y="914400"/>
            <a:ext cx="2212560" cy="141696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7" name="Rectangle 6"/>
          <p:cNvSpPr/>
          <p:nvPr/>
        </p:nvSpPr>
        <p:spPr>
          <a:xfrm>
            <a:off x="320040" y="914400"/>
            <a:ext cx="2212560" cy="54360"/>
          </a:xfrm>
          <a:prstGeom prst="rect">
            <a:avLst/>
          </a:prstGeom>
          <a:solidFill>
            <a:srgbClr val="00E5A0"/>
          </a:solidFill>
          <a:ln>
            <a:solidFill>
              <a:srgbClr val="00E5A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8" name="TextBox 7"/>
          <p:cNvSpPr/>
          <p:nvPr/>
        </p:nvSpPr>
        <p:spPr>
          <a:xfrm>
            <a:off x="411480" y="1024200"/>
            <a:ext cx="2029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4,033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Box 8"/>
          <p:cNvSpPr/>
          <p:nvPr/>
        </p:nvSpPr>
        <p:spPr>
          <a:xfrm>
            <a:off x="411480" y="1508760"/>
            <a:ext cx="2029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B8499"/>
                </a:solidFill>
                <a:effectLst/>
                <a:uFillTx/>
                <a:latin typeface="Calibri"/>
              </a:rPr>
              <a:t>kg/ha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Box 9"/>
          <p:cNvSpPr/>
          <p:nvPr/>
        </p:nvSpPr>
        <p:spPr>
          <a:xfrm>
            <a:off x="411480" y="1737360"/>
            <a:ext cx="2029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9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Average yield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across all farms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Rectangle 10"/>
          <p:cNvSpPr/>
          <p:nvPr/>
        </p:nvSpPr>
        <p:spPr>
          <a:xfrm>
            <a:off x="2651760" y="914400"/>
            <a:ext cx="2212560" cy="141696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2" name="Rectangle 11"/>
          <p:cNvSpPr/>
          <p:nvPr/>
        </p:nvSpPr>
        <p:spPr>
          <a:xfrm>
            <a:off x="2651760" y="914400"/>
            <a:ext cx="2212560" cy="5436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3" name="TextBox 12"/>
          <p:cNvSpPr/>
          <p:nvPr/>
        </p:nvSpPr>
        <p:spPr>
          <a:xfrm>
            <a:off x="2743200" y="1024200"/>
            <a:ext cx="2029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0.602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Box 13"/>
          <p:cNvSpPr/>
          <p:nvPr/>
        </p:nvSpPr>
        <p:spPr>
          <a:xfrm>
            <a:off x="2743200" y="1508760"/>
            <a:ext cx="2029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B8499"/>
                </a:solidFill>
                <a:effectLst/>
                <a:uFillTx/>
                <a:latin typeface="Calibri"/>
              </a:rPr>
              <a:t>NDVI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Box 14"/>
          <p:cNvSpPr/>
          <p:nvPr/>
        </p:nvSpPr>
        <p:spPr>
          <a:xfrm>
            <a:off x="2743200" y="1737360"/>
            <a:ext cx="2029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9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Average vegetation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health index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Rectangle 15"/>
          <p:cNvSpPr/>
          <p:nvPr/>
        </p:nvSpPr>
        <p:spPr>
          <a:xfrm>
            <a:off x="4983480" y="914400"/>
            <a:ext cx="2212560" cy="141696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7" name="Rectangle 16"/>
          <p:cNvSpPr/>
          <p:nvPr/>
        </p:nvSpPr>
        <p:spPr>
          <a:xfrm>
            <a:off x="4983480" y="914400"/>
            <a:ext cx="2212560" cy="54360"/>
          </a:xfrm>
          <a:prstGeom prst="rect">
            <a:avLst/>
          </a:prstGeom>
          <a:solidFill>
            <a:srgbClr val="FBBF24"/>
          </a:solidFill>
          <a:ln>
            <a:solidFill>
              <a:srgbClr val="FBBF2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8" name="TextBox 17"/>
          <p:cNvSpPr/>
          <p:nvPr/>
        </p:nvSpPr>
        <p:spPr>
          <a:xfrm>
            <a:off x="5074920" y="1024200"/>
            <a:ext cx="2029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BBF24"/>
                </a:solidFill>
                <a:effectLst/>
                <a:uFillTx/>
                <a:latin typeface="Calibri"/>
              </a:rPr>
              <a:t>26.75%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Box 18"/>
          <p:cNvSpPr/>
          <p:nvPr/>
        </p:nvSpPr>
        <p:spPr>
          <a:xfrm>
            <a:off x="5074920" y="1508760"/>
            <a:ext cx="2029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B8499"/>
                </a:solidFill>
                <a:effectLst/>
                <a:uFillTx/>
                <a:latin typeface="Calibri"/>
              </a:rPr>
              <a:t>moisture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Box 19"/>
          <p:cNvSpPr/>
          <p:nvPr/>
        </p:nvSpPr>
        <p:spPr>
          <a:xfrm>
            <a:off x="5074920" y="1737360"/>
            <a:ext cx="2029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9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Average soil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moisture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Rectangle 20"/>
          <p:cNvSpPr/>
          <p:nvPr/>
        </p:nvSpPr>
        <p:spPr>
          <a:xfrm>
            <a:off x="7315200" y="914400"/>
            <a:ext cx="2212560" cy="141696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2" name="Rectangle 21"/>
          <p:cNvSpPr/>
          <p:nvPr/>
        </p:nvSpPr>
        <p:spPr>
          <a:xfrm>
            <a:off x="7315200" y="914400"/>
            <a:ext cx="2212560" cy="54360"/>
          </a:xfrm>
          <a:prstGeom prst="rect">
            <a:avLst/>
          </a:prstGeom>
          <a:solidFill>
            <a:srgbClr val="F87171"/>
          </a:solidFill>
          <a:ln>
            <a:solidFill>
              <a:srgbClr val="F8717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3" name="TextBox 22"/>
          <p:cNvSpPr/>
          <p:nvPr/>
        </p:nvSpPr>
        <p:spPr>
          <a:xfrm>
            <a:off x="7406640" y="1024200"/>
            <a:ext cx="2029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87171"/>
                </a:solidFill>
                <a:effectLst/>
                <a:uFillTx/>
                <a:latin typeface="Calibri"/>
              </a:rPr>
              <a:t>24.7°C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Box 23"/>
          <p:cNvSpPr/>
          <p:nvPr/>
        </p:nvSpPr>
        <p:spPr>
          <a:xfrm>
            <a:off x="7406640" y="1508760"/>
            <a:ext cx="2029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B8499"/>
                </a:solidFill>
                <a:effectLst/>
                <a:uFillTx/>
                <a:latin typeface="Calibri"/>
              </a:rPr>
              <a:t>temp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Box 24"/>
          <p:cNvSpPr/>
          <p:nvPr/>
        </p:nvSpPr>
        <p:spPr>
          <a:xfrm>
            <a:off x="7406640" y="1737360"/>
            <a:ext cx="2029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9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Average sensor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temperature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Rectangle 25"/>
          <p:cNvSpPr/>
          <p:nvPr/>
        </p:nvSpPr>
        <p:spPr>
          <a:xfrm>
            <a:off x="9646920" y="914400"/>
            <a:ext cx="2212560" cy="141696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7" name="Rectangle 26"/>
          <p:cNvSpPr/>
          <p:nvPr/>
        </p:nvSpPr>
        <p:spPr>
          <a:xfrm>
            <a:off x="9646920" y="914400"/>
            <a:ext cx="2212560" cy="54360"/>
          </a:xfrm>
          <a:prstGeom prst="rect">
            <a:avLst/>
          </a:prstGeom>
          <a:solidFill>
            <a:srgbClr val="00E5A0"/>
          </a:solidFill>
          <a:ln>
            <a:solidFill>
              <a:srgbClr val="00E5A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8" name="TextBox 27"/>
          <p:cNvSpPr/>
          <p:nvPr/>
        </p:nvSpPr>
        <p:spPr>
          <a:xfrm>
            <a:off x="9738360" y="1024200"/>
            <a:ext cx="2029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65.2%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Box 28"/>
          <p:cNvSpPr/>
          <p:nvPr/>
        </p:nvSpPr>
        <p:spPr>
          <a:xfrm>
            <a:off x="9738360" y="1508760"/>
            <a:ext cx="2029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B8499"/>
                </a:solidFill>
                <a:effectLst/>
                <a:uFillTx/>
                <a:latin typeface="Calibri"/>
              </a:rPr>
              <a:t>humidity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Box 29"/>
          <p:cNvSpPr/>
          <p:nvPr/>
        </p:nvSpPr>
        <p:spPr>
          <a:xfrm>
            <a:off x="9738360" y="1737360"/>
            <a:ext cx="2029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9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Average relative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humidity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Rectangle 30"/>
          <p:cNvSpPr/>
          <p:nvPr/>
        </p:nvSpPr>
        <p:spPr>
          <a:xfrm>
            <a:off x="320040" y="2541960"/>
            <a:ext cx="5486040" cy="352008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2" name="Rectangle 31"/>
          <p:cNvSpPr/>
          <p:nvPr/>
        </p:nvSpPr>
        <p:spPr>
          <a:xfrm>
            <a:off x="320040" y="2541960"/>
            <a:ext cx="54360" cy="3520080"/>
          </a:xfrm>
          <a:prstGeom prst="rect">
            <a:avLst/>
          </a:prstGeom>
          <a:solidFill>
            <a:srgbClr val="00E5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3" name="TextBox 32"/>
          <p:cNvSpPr/>
          <p:nvPr/>
        </p:nvSpPr>
        <p:spPr>
          <a:xfrm>
            <a:off x="548640" y="263340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Yield by Crop Type (avg kg/ha)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Box 33"/>
          <p:cNvSpPr/>
          <p:nvPr/>
        </p:nvSpPr>
        <p:spPr>
          <a:xfrm>
            <a:off x="548640" y="309060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Soybean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Rectangle 34"/>
          <p:cNvSpPr/>
          <p:nvPr/>
        </p:nvSpPr>
        <p:spPr>
          <a:xfrm>
            <a:off x="2011680" y="3145680"/>
            <a:ext cx="3200040" cy="219240"/>
          </a:xfrm>
          <a:prstGeom prst="rect">
            <a:avLst/>
          </a:prstGeom>
          <a:solidFill>
            <a:srgbClr val="1A3A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6" name="Rectangle 35"/>
          <p:cNvSpPr/>
          <p:nvPr/>
        </p:nvSpPr>
        <p:spPr>
          <a:xfrm>
            <a:off x="2011680" y="3145680"/>
            <a:ext cx="3039840" cy="219240"/>
          </a:xfrm>
          <a:prstGeom prst="rect">
            <a:avLst/>
          </a:prstGeom>
          <a:solidFill>
            <a:srgbClr val="00E5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7" name="TextBox 36"/>
          <p:cNvSpPr/>
          <p:nvPr/>
        </p:nvSpPr>
        <p:spPr>
          <a:xfrm>
            <a:off x="5303520" y="309060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4,256.8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Box 37"/>
          <p:cNvSpPr/>
          <p:nvPr/>
        </p:nvSpPr>
        <p:spPr>
          <a:xfrm>
            <a:off x="548640" y="362088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Wheat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Rectangle 38"/>
          <p:cNvSpPr/>
          <p:nvPr/>
        </p:nvSpPr>
        <p:spPr>
          <a:xfrm>
            <a:off x="2011680" y="3675960"/>
            <a:ext cx="3200040" cy="219240"/>
          </a:xfrm>
          <a:prstGeom prst="rect">
            <a:avLst/>
          </a:prstGeom>
          <a:solidFill>
            <a:srgbClr val="1A3A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0" name="Rectangle 39"/>
          <p:cNvSpPr/>
          <p:nvPr/>
        </p:nvSpPr>
        <p:spPr>
          <a:xfrm>
            <a:off x="2011680" y="3675960"/>
            <a:ext cx="2880000" cy="219240"/>
          </a:xfrm>
          <a:prstGeom prst="rect">
            <a:avLst/>
          </a:prstGeom>
          <a:solidFill>
            <a:srgbClr val="00E5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1" name="TextBox 40"/>
          <p:cNvSpPr/>
          <p:nvPr/>
        </p:nvSpPr>
        <p:spPr>
          <a:xfrm>
            <a:off x="5303520" y="362088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4,077.6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Box 41"/>
          <p:cNvSpPr/>
          <p:nvPr/>
        </p:nvSpPr>
        <p:spPr>
          <a:xfrm>
            <a:off x="548640" y="415152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Maize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Rectangle 42"/>
          <p:cNvSpPr/>
          <p:nvPr/>
        </p:nvSpPr>
        <p:spPr>
          <a:xfrm>
            <a:off x="2011680" y="4206240"/>
            <a:ext cx="3200040" cy="219240"/>
          </a:xfrm>
          <a:prstGeom prst="rect">
            <a:avLst/>
          </a:prstGeom>
          <a:solidFill>
            <a:srgbClr val="1A3A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4" name="Rectangle 43"/>
          <p:cNvSpPr/>
          <p:nvPr/>
        </p:nvSpPr>
        <p:spPr>
          <a:xfrm>
            <a:off x="2011680" y="4206240"/>
            <a:ext cx="2815920" cy="219240"/>
          </a:xfrm>
          <a:prstGeom prst="rect">
            <a:avLst/>
          </a:prstGeom>
          <a:solidFill>
            <a:srgbClr val="00E5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5" name="TextBox 44"/>
          <p:cNvSpPr/>
          <p:nvPr/>
        </p:nvSpPr>
        <p:spPr>
          <a:xfrm>
            <a:off x="5303520" y="415152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3,982.6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Box 45"/>
          <p:cNvSpPr/>
          <p:nvPr/>
        </p:nvSpPr>
        <p:spPr>
          <a:xfrm>
            <a:off x="548640" y="468180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Cotton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Rectangle 46"/>
          <p:cNvSpPr/>
          <p:nvPr/>
        </p:nvSpPr>
        <p:spPr>
          <a:xfrm>
            <a:off x="2011680" y="4736520"/>
            <a:ext cx="3200040" cy="219240"/>
          </a:xfrm>
          <a:prstGeom prst="rect">
            <a:avLst/>
          </a:prstGeom>
          <a:solidFill>
            <a:srgbClr val="1A3A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8" name="Rectangle 47"/>
          <p:cNvSpPr/>
          <p:nvPr/>
        </p:nvSpPr>
        <p:spPr>
          <a:xfrm>
            <a:off x="2011680" y="4736520"/>
            <a:ext cx="2783880" cy="219240"/>
          </a:xfrm>
          <a:prstGeom prst="rect">
            <a:avLst/>
          </a:prstGeom>
          <a:solidFill>
            <a:srgbClr val="00E5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9" name="TextBox 48"/>
          <p:cNvSpPr/>
          <p:nvPr/>
        </p:nvSpPr>
        <p:spPr>
          <a:xfrm>
            <a:off x="5303520" y="468180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3,925.6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Box 49"/>
          <p:cNvSpPr/>
          <p:nvPr/>
        </p:nvSpPr>
        <p:spPr>
          <a:xfrm>
            <a:off x="548640" y="521208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Rice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Rectangle 50"/>
          <p:cNvSpPr/>
          <p:nvPr/>
        </p:nvSpPr>
        <p:spPr>
          <a:xfrm>
            <a:off x="2011680" y="5266800"/>
            <a:ext cx="3200040" cy="219240"/>
          </a:xfrm>
          <a:prstGeom prst="rect">
            <a:avLst/>
          </a:prstGeom>
          <a:solidFill>
            <a:srgbClr val="1A3A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2" name="Rectangle 51"/>
          <p:cNvSpPr/>
          <p:nvPr/>
        </p:nvSpPr>
        <p:spPr>
          <a:xfrm>
            <a:off x="2011680" y="5266800"/>
            <a:ext cx="2751840" cy="219240"/>
          </a:xfrm>
          <a:prstGeom prst="rect">
            <a:avLst/>
          </a:prstGeom>
          <a:solidFill>
            <a:srgbClr val="00E5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3" name="TextBox 52"/>
          <p:cNvSpPr/>
          <p:nvPr/>
        </p:nvSpPr>
        <p:spPr>
          <a:xfrm>
            <a:off x="5303520" y="521208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3,896.2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Rectangle 53"/>
          <p:cNvSpPr/>
          <p:nvPr/>
        </p:nvSpPr>
        <p:spPr>
          <a:xfrm>
            <a:off x="6080760" y="2541960"/>
            <a:ext cx="5787720" cy="352008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5" name="Rectangle 54"/>
          <p:cNvSpPr/>
          <p:nvPr/>
        </p:nvSpPr>
        <p:spPr>
          <a:xfrm>
            <a:off x="6080760" y="2541960"/>
            <a:ext cx="54360" cy="352008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6" name="TextBox 55"/>
          <p:cNvSpPr/>
          <p:nvPr/>
        </p:nvSpPr>
        <p:spPr>
          <a:xfrm>
            <a:off x="6309360" y="2633400"/>
            <a:ext cx="5394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Regional &amp; Agronomic Insights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Box 56"/>
          <p:cNvSpPr/>
          <p:nvPr/>
        </p:nvSpPr>
        <p:spPr>
          <a:xfrm>
            <a:off x="6309360" y="309060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South India: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Box 57"/>
          <p:cNvSpPr/>
          <p:nvPr/>
        </p:nvSpPr>
        <p:spPr>
          <a:xfrm>
            <a:off x="7863840" y="309060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4,122.9 kg/ha — highest yield region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Box 58"/>
          <p:cNvSpPr/>
          <p:nvPr/>
        </p:nvSpPr>
        <p:spPr>
          <a:xfrm>
            <a:off x="6309360" y="360288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Soybean: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Box 59"/>
          <p:cNvSpPr/>
          <p:nvPr/>
        </p:nvSpPr>
        <p:spPr>
          <a:xfrm>
            <a:off x="7863840" y="360288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leads all crops by 179 kg/ha margin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Box 60"/>
          <p:cNvSpPr/>
          <p:nvPr/>
        </p:nvSpPr>
        <p:spPr>
          <a:xfrm>
            <a:off x="6309360" y="411480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Irrigation: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Box 61"/>
          <p:cNvSpPr/>
          <p:nvPr/>
        </p:nvSpPr>
        <p:spPr>
          <a:xfrm>
            <a:off x="7863840" y="411480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30% farms: type Unknown (nulls imputed)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Box 62"/>
          <p:cNvSpPr/>
          <p:nvPr/>
        </p:nvSpPr>
        <p:spPr>
          <a:xfrm>
            <a:off x="6309360" y="462672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NPK gap: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Box 63"/>
          <p:cNvSpPr/>
          <p:nvPr/>
        </p:nvSpPr>
        <p:spPr>
          <a:xfrm>
            <a:off x="7863840" y="462672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Wheat &amp; Soybean absent from original rec. dataset — fixed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Box 64"/>
          <p:cNvSpPr/>
          <p:nvPr/>
        </p:nvSpPr>
        <p:spPr>
          <a:xfrm>
            <a:off x="6309360" y="513900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ET₀ range: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Box 65"/>
          <p:cNvSpPr/>
          <p:nvPr/>
        </p:nvSpPr>
        <p:spPr>
          <a:xfrm>
            <a:off x="7863840" y="513900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2.1 – 5.8 mm/day across all 500 farms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Box 66"/>
          <p:cNvSpPr/>
          <p:nvPr/>
        </p:nvSpPr>
        <p:spPr>
          <a:xfrm>
            <a:off x="6309360" y="565092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pH levels: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Box 67"/>
          <p:cNvSpPr/>
          <p:nvPr/>
        </p:nvSpPr>
        <p:spPr>
          <a:xfrm>
            <a:off x="7863840" y="565092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All farms: 5.5–7.5 — optimal crop range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Rectangle 68"/>
          <p:cNvSpPr/>
          <p:nvPr/>
        </p:nvSpPr>
        <p:spPr>
          <a:xfrm>
            <a:off x="0" y="6355080"/>
            <a:ext cx="12188520" cy="502560"/>
          </a:xfrm>
          <a:prstGeom prst="rect">
            <a:avLst/>
          </a:prstGeom>
          <a:solidFill>
            <a:srgbClr val="07140A"/>
          </a:solidFill>
          <a:ln>
            <a:solidFill>
              <a:srgbClr val="07140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0" name="TextBox 69"/>
          <p:cNvSpPr/>
          <p:nvPr/>
        </p:nvSpPr>
        <p:spPr>
          <a:xfrm>
            <a:off x="274320" y="6400800"/>
            <a:ext cx="11612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B8499"/>
                </a:solidFill>
                <a:effectLst/>
                <a:uFillTx/>
                <a:latin typeface="Calibri"/>
              </a:rPr>
              <a:t>AgroSense Analytics  ·  Real-Time Smart Farm Monitoring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B1F0F"/>
          </a:solidFill>
          <a:ln>
            <a:solidFill>
              <a:srgbClr val="0B1F0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2" name="Rectangle 2"/>
          <p:cNvSpPr/>
          <p:nvPr/>
        </p:nvSpPr>
        <p:spPr>
          <a:xfrm>
            <a:off x="0" y="0"/>
            <a:ext cx="12188520" cy="685440"/>
          </a:xfrm>
          <a:prstGeom prst="rect">
            <a:avLst/>
          </a:prstGeom>
          <a:solidFill>
            <a:srgbClr val="0F3D1F"/>
          </a:solidFill>
          <a:ln>
            <a:solidFill>
              <a:srgbClr val="0F3D1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3" name="TextBox 3"/>
          <p:cNvSpPr/>
          <p:nvPr/>
        </p:nvSpPr>
        <p:spPr>
          <a:xfrm>
            <a:off x="365760" y="164520"/>
            <a:ext cx="10972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LIVE DASHBOARD — LOOKER STUDIO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Rectangle 4"/>
          <p:cNvSpPr/>
          <p:nvPr/>
        </p:nvSpPr>
        <p:spPr>
          <a:xfrm>
            <a:off x="0" y="685800"/>
            <a:ext cx="12188520" cy="36360"/>
          </a:xfrm>
          <a:prstGeom prst="rect">
            <a:avLst/>
          </a:prstGeom>
          <a:solidFill>
            <a:srgbClr val="00E5A0"/>
          </a:solidFill>
          <a:ln>
            <a:solidFill>
              <a:srgbClr val="00E5A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5" name="Rectangle 5"/>
          <p:cNvSpPr/>
          <p:nvPr/>
        </p:nvSpPr>
        <p:spPr>
          <a:xfrm>
            <a:off x="320040" y="868680"/>
            <a:ext cx="11548440" cy="516600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6" name="Rectangle 6"/>
          <p:cNvSpPr/>
          <p:nvPr/>
        </p:nvSpPr>
        <p:spPr>
          <a:xfrm>
            <a:off x="320040" y="868680"/>
            <a:ext cx="11548440" cy="383760"/>
          </a:xfrm>
          <a:prstGeom prst="rect">
            <a:avLst/>
          </a:prstGeom>
          <a:solidFill>
            <a:srgbClr val="0D2818"/>
          </a:solidFill>
          <a:ln>
            <a:solidFill>
              <a:srgbClr val="0D281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7" name="TextBox 7"/>
          <p:cNvSpPr/>
          <p:nvPr/>
        </p:nvSpPr>
        <p:spPr>
          <a:xfrm>
            <a:off x="502920" y="91440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AgroSense Analytics  ● LIVE   |  All Regions ▼   All Crops ▼   Stream: 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Rectangle 8"/>
          <p:cNvSpPr/>
          <p:nvPr/>
        </p:nvSpPr>
        <p:spPr>
          <a:xfrm>
            <a:off x="411480" y="1325880"/>
            <a:ext cx="1810080" cy="68544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9" name="TextBox 9"/>
          <p:cNvSpPr/>
          <p:nvPr/>
        </p:nvSpPr>
        <p:spPr>
          <a:xfrm>
            <a:off x="466200" y="1389960"/>
            <a:ext cx="170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4,033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Box 10"/>
          <p:cNvSpPr/>
          <p:nvPr/>
        </p:nvSpPr>
        <p:spPr>
          <a:xfrm>
            <a:off x="466200" y="1710000"/>
            <a:ext cx="1700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6B8499"/>
                </a:solidFill>
                <a:effectLst/>
                <a:uFillTx/>
                <a:latin typeface="Calibri"/>
              </a:rPr>
              <a:t>Yield kg/ha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Rectangle 11"/>
          <p:cNvSpPr/>
          <p:nvPr/>
        </p:nvSpPr>
        <p:spPr>
          <a:xfrm>
            <a:off x="2313360" y="1325880"/>
            <a:ext cx="1810080" cy="68544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2" name="TextBox 12"/>
          <p:cNvSpPr/>
          <p:nvPr/>
        </p:nvSpPr>
        <p:spPr>
          <a:xfrm>
            <a:off x="2368440" y="1389960"/>
            <a:ext cx="170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26.75%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Box 13"/>
          <p:cNvSpPr/>
          <p:nvPr/>
        </p:nvSpPr>
        <p:spPr>
          <a:xfrm>
            <a:off x="2368440" y="1710000"/>
            <a:ext cx="1700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6B8499"/>
                </a:solidFill>
                <a:effectLst/>
                <a:uFillTx/>
                <a:latin typeface="Calibri"/>
              </a:rPr>
              <a:t>Moisture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Rectangle 14"/>
          <p:cNvSpPr/>
          <p:nvPr/>
        </p:nvSpPr>
        <p:spPr>
          <a:xfrm>
            <a:off x="4215240" y="1325880"/>
            <a:ext cx="1810080" cy="68544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5" name="TextBox 15"/>
          <p:cNvSpPr/>
          <p:nvPr/>
        </p:nvSpPr>
        <p:spPr>
          <a:xfrm>
            <a:off x="4270320" y="1389960"/>
            <a:ext cx="170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0.602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Box 16"/>
          <p:cNvSpPr/>
          <p:nvPr/>
        </p:nvSpPr>
        <p:spPr>
          <a:xfrm>
            <a:off x="4270320" y="1710000"/>
            <a:ext cx="1700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6B8499"/>
                </a:solidFill>
                <a:effectLst/>
                <a:uFillTx/>
                <a:latin typeface="Calibri"/>
              </a:rPr>
              <a:t>NDVI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Rectangle 17"/>
          <p:cNvSpPr/>
          <p:nvPr/>
        </p:nvSpPr>
        <p:spPr>
          <a:xfrm>
            <a:off x="6117480" y="1325880"/>
            <a:ext cx="1810080" cy="68544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8" name="TextBox 18"/>
          <p:cNvSpPr/>
          <p:nvPr/>
        </p:nvSpPr>
        <p:spPr>
          <a:xfrm>
            <a:off x="6172200" y="1389960"/>
            <a:ext cx="170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BBF24"/>
                </a:solidFill>
                <a:effectLst/>
                <a:uFillTx/>
                <a:latin typeface="Calibri"/>
              </a:rPr>
              <a:t>24.7°C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Box 19"/>
          <p:cNvSpPr/>
          <p:nvPr/>
        </p:nvSpPr>
        <p:spPr>
          <a:xfrm>
            <a:off x="6172200" y="1710000"/>
            <a:ext cx="1700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6B8499"/>
                </a:solidFill>
                <a:effectLst/>
                <a:uFillTx/>
                <a:latin typeface="Calibri"/>
              </a:rPr>
              <a:t>Temp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Rectangle 20"/>
          <p:cNvSpPr/>
          <p:nvPr/>
        </p:nvSpPr>
        <p:spPr>
          <a:xfrm>
            <a:off x="8019360" y="1325880"/>
            <a:ext cx="1810080" cy="68544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1" name="TextBox 21"/>
          <p:cNvSpPr/>
          <p:nvPr/>
        </p:nvSpPr>
        <p:spPr>
          <a:xfrm>
            <a:off x="8074080" y="1389960"/>
            <a:ext cx="170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C084FC"/>
                </a:solidFill>
                <a:effectLst/>
                <a:uFillTx/>
                <a:latin typeface="Calibri"/>
              </a:rPr>
              <a:t>65.2%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Box 22"/>
          <p:cNvSpPr/>
          <p:nvPr/>
        </p:nvSpPr>
        <p:spPr>
          <a:xfrm>
            <a:off x="8074080" y="1710000"/>
            <a:ext cx="1700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6B8499"/>
                </a:solidFill>
                <a:effectLst/>
                <a:uFillTx/>
                <a:latin typeface="Calibri"/>
              </a:rPr>
              <a:t>Humidity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Rectangle 23"/>
          <p:cNvSpPr/>
          <p:nvPr/>
        </p:nvSpPr>
        <p:spPr>
          <a:xfrm>
            <a:off x="9921240" y="1325880"/>
            <a:ext cx="1810080" cy="68544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4" name="TextBox 24"/>
          <p:cNvSpPr/>
          <p:nvPr/>
        </p:nvSpPr>
        <p:spPr>
          <a:xfrm>
            <a:off x="9975960" y="1389960"/>
            <a:ext cx="170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500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Box 25"/>
          <p:cNvSpPr/>
          <p:nvPr/>
        </p:nvSpPr>
        <p:spPr>
          <a:xfrm>
            <a:off x="9975960" y="1710000"/>
            <a:ext cx="1700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6B8499"/>
                </a:solidFill>
                <a:effectLst/>
                <a:uFillTx/>
                <a:latin typeface="Calibri"/>
              </a:rPr>
              <a:t>Sensors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Rectangle 26"/>
          <p:cNvSpPr/>
          <p:nvPr/>
        </p:nvSpPr>
        <p:spPr>
          <a:xfrm>
            <a:off x="411480" y="2103120"/>
            <a:ext cx="2157480" cy="73116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7" name="TextBox 27"/>
          <p:cNvSpPr/>
          <p:nvPr/>
        </p:nvSpPr>
        <p:spPr>
          <a:xfrm>
            <a:off x="502920" y="2167200"/>
            <a:ext cx="1974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North India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Box 28"/>
          <p:cNvSpPr/>
          <p:nvPr/>
        </p:nvSpPr>
        <p:spPr>
          <a:xfrm>
            <a:off x="502920" y="2423160"/>
            <a:ext cx="1974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3,996 kg/ha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Rectangle 29"/>
          <p:cNvSpPr/>
          <p:nvPr/>
        </p:nvSpPr>
        <p:spPr>
          <a:xfrm>
            <a:off x="2660760" y="2103120"/>
            <a:ext cx="2157480" cy="73116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0" name="TextBox 30"/>
          <p:cNvSpPr/>
          <p:nvPr/>
        </p:nvSpPr>
        <p:spPr>
          <a:xfrm>
            <a:off x="2752200" y="2167200"/>
            <a:ext cx="1974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South India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Box 31"/>
          <p:cNvSpPr/>
          <p:nvPr/>
        </p:nvSpPr>
        <p:spPr>
          <a:xfrm>
            <a:off x="2752200" y="2423160"/>
            <a:ext cx="1974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4,123 kg/ha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Rectangle 32"/>
          <p:cNvSpPr/>
          <p:nvPr/>
        </p:nvSpPr>
        <p:spPr>
          <a:xfrm>
            <a:off x="4910400" y="2103120"/>
            <a:ext cx="2157480" cy="73116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3" name="TextBox 33"/>
          <p:cNvSpPr/>
          <p:nvPr/>
        </p:nvSpPr>
        <p:spPr>
          <a:xfrm>
            <a:off x="5001840" y="2167200"/>
            <a:ext cx="1974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C084FC"/>
                </a:solidFill>
                <a:effectLst/>
                <a:uFillTx/>
                <a:latin typeface="Calibri"/>
              </a:rPr>
              <a:t>Central USA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Box 34"/>
          <p:cNvSpPr/>
          <p:nvPr/>
        </p:nvSpPr>
        <p:spPr>
          <a:xfrm>
            <a:off x="5001840" y="2423160"/>
            <a:ext cx="1974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4,013 kg/ha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Rectangle 35"/>
          <p:cNvSpPr/>
          <p:nvPr/>
        </p:nvSpPr>
        <p:spPr>
          <a:xfrm>
            <a:off x="7159680" y="2103120"/>
            <a:ext cx="2157480" cy="73116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6" name="TextBox 36"/>
          <p:cNvSpPr/>
          <p:nvPr/>
        </p:nvSpPr>
        <p:spPr>
          <a:xfrm>
            <a:off x="7251120" y="2167200"/>
            <a:ext cx="1974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FBBF24"/>
                </a:solidFill>
                <a:effectLst/>
                <a:uFillTx/>
                <a:latin typeface="Calibri"/>
              </a:rPr>
              <a:t>South USA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Box 37"/>
          <p:cNvSpPr/>
          <p:nvPr/>
        </p:nvSpPr>
        <p:spPr>
          <a:xfrm>
            <a:off x="7251120" y="2423160"/>
            <a:ext cx="1974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3,984 kg/ha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Rectangle 38"/>
          <p:cNvSpPr/>
          <p:nvPr/>
        </p:nvSpPr>
        <p:spPr>
          <a:xfrm>
            <a:off x="9409320" y="2103120"/>
            <a:ext cx="2157480" cy="73116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9" name="TextBox 39"/>
          <p:cNvSpPr/>
          <p:nvPr/>
        </p:nvSpPr>
        <p:spPr>
          <a:xfrm>
            <a:off x="9500760" y="2167200"/>
            <a:ext cx="1974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2DD4BF"/>
                </a:solidFill>
                <a:effectLst/>
                <a:uFillTx/>
                <a:latin typeface="Calibri"/>
              </a:rPr>
              <a:t>East Africa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Box 40"/>
          <p:cNvSpPr/>
          <p:nvPr/>
        </p:nvSpPr>
        <p:spPr>
          <a:xfrm>
            <a:off x="9500760" y="2423160"/>
            <a:ext cx="1974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4,053 kg/ha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Rectangle 41"/>
          <p:cNvSpPr/>
          <p:nvPr/>
        </p:nvSpPr>
        <p:spPr>
          <a:xfrm>
            <a:off x="411480" y="2944440"/>
            <a:ext cx="5394600" cy="146268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2" name="Rectangle 42"/>
          <p:cNvSpPr/>
          <p:nvPr/>
        </p:nvSpPr>
        <p:spPr>
          <a:xfrm>
            <a:off x="411480" y="2944440"/>
            <a:ext cx="54360" cy="1462680"/>
          </a:xfrm>
          <a:prstGeom prst="rect">
            <a:avLst/>
          </a:prstGeom>
          <a:solidFill>
            <a:srgbClr val="00E5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3" name="TextBox 43"/>
          <p:cNvSpPr/>
          <p:nvPr/>
        </p:nvSpPr>
        <p:spPr>
          <a:xfrm>
            <a:off x="576000" y="3017520"/>
            <a:ext cx="5138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Yield by Crop &amp; Region — Grouped Bar Chart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Rectangle 44"/>
          <p:cNvSpPr/>
          <p:nvPr/>
        </p:nvSpPr>
        <p:spPr>
          <a:xfrm>
            <a:off x="640080" y="4160520"/>
            <a:ext cx="255600" cy="136800"/>
          </a:xfrm>
          <a:prstGeom prst="rect">
            <a:avLst/>
          </a:prstGeom>
          <a:solidFill>
            <a:srgbClr val="00E5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5" name="Rectangle 45"/>
          <p:cNvSpPr/>
          <p:nvPr/>
        </p:nvSpPr>
        <p:spPr>
          <a:xfrm>
            <a:off x="1627560" y="3959280"/>
            <a:ext cx="255600" cy="338040"/>
          </a:xfrm>
          <a:prstGeom prst="rect">
            <a:avLst/>
          </a:prstGeom>
          <a:solidFill>
            <a:srgbClr val="00E5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6" name="Rectangle 46"/>
          <p:cNvSpPr/>
          <p:nvPr/>
        </p:nvSpPr>
        <p:spPr>
          <a:xfrm>
            <a:off x="2615040" y="3758040"/>
            <a:ext cx="255600" cy="539280"/>
          </a:xfrm>
          <a:prstGeom prst="rect">
            <a:avLst/>
          </a:prstGeom>
          <a:solidFill>
            <a:srgbClr val="00E5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7" name="Rectangle 47"/>
          <p:cNvSpPr/>
          <p:nvPr/>
        </p:nvSpPr>
        <p:spPr>
          <a:xfrm>
            <a:off x="3602880" y="4160520"/>
            <a:ext cx="255600" cy="136800"/>
          </a:xfrm>
          <a:prstGeom prst="rect">
            <a:avLst/>
          </a:prstGeom>
          <a:solidFill>
            <a:srgbClr val="00E5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8" name="Rectangle 48"/>
          <p:cNvSpPr/>
          <p:nvPr/>
        </p:nvSpPr>
        <p:spPr>
          <a:xfrm>
            <a:off x="4590360" y="3959280"/>
            <a:ext cx="255600" cy="338040"/>
          </a:xfrm>
          <a:prstGeom prst="rect">
            <a:avLst/>
          </a:prstGeom>
          <a:solidFill>
            <a:srgbClr val="00E5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9" name="Rectangle 49"/>
          <p:cNvSpPr/>
          <p:nvPr/>
        </p:nvSpPr>
        <p:spPr>
          <a:xfrm>
            <a:off x="5943600" y="2944440"/>
            <a:ext cx="5787720" cy="146268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0" name="Rectangle 50"/>
          <p:cNvSpPr/>
          <p:nvPr/>
        </p:nvSpPr>
        <p:spPr>
          <a:xfrm>
            <a:off x="5943600" y="2944440"/>
            <a:ext cx="54360" cy="146268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1" name="TextBox 51"/>
          <p:cNvSpPr/>
          <p:nvPr/>
        </p:nvSpPr>
        <p:spPr>
          <a:xfrm>
            <a:off x="6108120" y="3017520"/>
            <a:ext cx="5531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Live Sensor Stream — Temp &amp; Humidity Line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Rectangle 52"/>
          <p:cNvSpPr/>
          <p:nvPr/>
        </p:nvSpPr>
        <p:spPr>
          <a:xfrm>
            <a:off x="6172200" y="4160520"/>
            <a:ext cx="255600" cy="1368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3" name="Rectangle 53"/>
          <p:cNvSpPr/>
          <p:nvPr/>
        </p:nvSpPr>
        <p:spPr>
          <a:xfrm>
            <a:off x="7238520" y="3959280"/>
            <a:ext cx="255600" cy="33804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4" name="Rectangle 54"/>
          <p:cNvSpPr/>
          <p:nvPr/>
        </p:nvSpPr>
        <p:spPr>
          <a:xfrm>
            <a:off x="8304480" y="3758040"/>
            <a:ext cx="255600" cy="53928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5" name="Rectangle 55"/>
          <p:cNvSpPr/>
          <p:nvPr/>
        </p:nvSpPr>
        <p:spPr>
          <a:xfrm>
            <a:off x="9370800" y="4160520"/>
            <a:ext cx="255600" cy="1368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6" name="Rectangle 56"/>
          <p:cNvSpPr/>
          <p:nvPr/>
        </p:nvSpPr>
        <p:spPr>
          <a:xfrm>
            <a:off x="10437120" y="3959280"/>
            <a:ext cx="255600" cy="33804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7" name="Rectangle 57"/>
          <p:cNvSpPr/>
          <p:nvPr/>
        </p:nvSpPr>
        <p:spPr>
          <a:xfrm>
            <a:off x="411480" y="4526280"/>
            <a:ext cx="5394600" cy="118836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8" name="Rectangle 58"/>
          <p:cNvSpPr/>
          <p:nvPr/>
        </p:nvSpPr>
        <p:spPr>
          <a:xfrm>
            <a:off x="411480" y="4526280"/>
            <a:ext cx="54360" cy="1188360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9" name="TextBox 59"/>
          <p:cNvSpPr/>
          <p:nvPr/>
        </p:nvSpPr>
        <p:spPr>
          <a:xfrm>
            <a:off x="576000" y="4599360"/>
            <a:ext cx="5138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F87171"/>
                </a:solidFill>
                <a:effectLst/>
                <a:uFillTx/>
                <a:latin typeface="Calibri"/>
              </a:rPr>
              <a:t>Anomaly Alert Feed — Latest 20 Readings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Rectangle 60"/>
          <p:cNvSpPr/>
          <p:nvPr/>
        </p:nvSpPr>
        <p:spPr>
          <a:xfrm>
            <a:off x="640080" y="5468040"/>
            <a:ext cx="255600" cy="136800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1" name="Rectangle 61"/>
          <p:cNvSpPr/>
          <p:nvPr/>
        </p:nvSpPr>
        <p:spPr>
          <a:xfrm>
            <a:off x="1627560" y="5266800"/>
            <a:ext cx="255600" cy="338040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2" name="Rectangle 62"/>
          <p:cNvSpPr/>
          <p:nvPr/>
        </p:nvSpPr>
        <p:spPr>
          <a:xfrm>
            <a:off x="2615040" y="5065920"/>
            <a:ext cx="255600" cy="539280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3" name="Rectangle 63"/>
          <p:cNvSpPr/>
          <p:nvPr/>
        </p:nvSpPr>
        <p:spPr>
          <a:xfrm>
            <a:off x="3602880" y="5468040"/>
            <a:ext cx="255600" cy="136800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4" name="Rectangle 64"/>
          <p:cNvSpPr/>
          <p:nvPr/>
        </p:nvSpPr>
        <p:spPr>
          <a:xfrm>
            <a:off x="4590360" y="5266800"/>
            <a:ext cx="255600" cy="338040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5" name="Rectangle 65"/>
          <p:cNvSpPr/>
          <p:nvPr/>
        </p:nvSpPr>
        <p:spPr>
          <a:xfrm>
            <a:off x="5943600" y="4526280"/>
            <a:ext cx="5787720" cy="118836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6" name="Rectangle 66"/>
          <p:cNvSpPr/>
          <p:nvPr/>
        </p:nvSpPr>
        <p:spPr>
          <a:xfrm>
            <a:off x="5943600" y="4526280"/>
            <a:ext cx="54360" cy="1188360"/>
          </a:xfrm>
          <a:prstGeom prst="rect">
            <a:avLst/>
          </a:prstGeom>
          <a:solidFill>
            <a:srgbClr val="FBBF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7" name="TextBox 67"/>
          <p:cNvSpPr/>
          <p:nvPr/>
        </p:nvSpPr>
        <p:spPr>
          <a:xfrm>
            <a:off x="6108120" y="4599360"/>
            <a:ext cx="5531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FBBF24"/>
                </a:solidFill>
                <a:effectLst/>
                <a:uFillTx/>
                <a:latin typeface="Calibri"/>
              </a:rPr>
              <a:t>NPK vs Optimal — Crop Nutrition Monitor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Rectangle 68"/>
          <p:cNvSpPr/>
          <p:nvPr/>
        </p:nvSpPr>
        <p:spPr>
          <a:xfrm>
            <a:off x="6172200" y="5468040"/>
            <a:ext cx="255600" cy="136800"/>
          </a:xfrm>
          <a:prstGeom prst="rect">
            <a:avLst/>
          </a:prstGeom>
          <a:solidFill>
            <a:srgbClr val="FBBF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9" name="Rectangle 69"/>
          <p:cNvSpPr/>
          <p:nvPr/>
        </p:nvSpPr>
        <p:spPr>
          <a:xfrm>
            <a:off x="7238520" y="5266800"/>
            <a:ext cx="255600" cy="338040"/>
          </a:xfrm>
          <a:prstGeom prst="rect">
            <a:avLst/>
          </a:prstGeom>
          <a:solidFill>
            <a:srgbClr val="FBBF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0" name="Rectangle 70"/>
          <p:cNvSpPr/>
          <p:nvPr/>
        </p:nvSpPr>
        <p:spPr>
          <a:xfrm>
            <a:off x="8304480" y="5065920"/>
            <a:ext cx="255600" cy="539280"/>
          </a:xfrm>
          <a:prstGeom prst="rect">
            <a:avLst/>
          </a:prstGeom>
          <a:solidFill>
            <a:srgbClr val="FBBF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1" name="Rectangle 71"/>
          <p:cNvSpPr/>
          <p:nvPr/>
        </p:nvSpPr>
        <p:spPr>
          <a:xfrm>
            <a:off x="9370800" y="5468040"/>
            <a:ext cx="255600" cy="136800"/>
          </a:xfrm>
          <a:prstGeom prst="rect">
            <a:avLst/>
          </a:prstGeom>
          <a:solidFill>
            <a:srgbClr val="FBBF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2" name="Rectangle 72"/>
          <p:cNvSpPr/>
          <p:nvPr/>
        </p:nvSpPr>
        <p:spPr>
          <a:xfrm>
            <a:off x="10437120" y="5266800"/>
            <a:ext cx="255600" cy="338040"/>
          </a:xfrm>
          <a:prstGeom prst="rect">
            <a:avLst/>
          </a:prstGeom>
          <a:solidFill>
            <a:srgbClr val="FBBF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3" name="Rectangle 73"/>
          <p:cNvSpPr/>
          <p:nvPr/>
        </p:nvSpPr>
        <p:spPr>
          <a:xfrm>
            <a:off x="0" y="6355080"/>
            <a:ext cx="12188520" cy="502560"/>
          </a:xfrm>
          <a:prstGeom prst="rect">
            <a:avLst/>
          </a:prstGeom>
          <a:solidFill>
            <a:srgbClr val="07140A"/>
          </a:solidFill>
          <a:ln>
            <a:solidFill>
              <a:srgbClr val="07140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4" name="TextBox 74"/>
          <p:cNvSpPr/>
          <p:nvPr/>
        </p:nvSpPr>
        <p:spPr>
          <a:xfrm>
            <a:off x="274320" y="6400800"/>
            <a:ext cx="11612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B8499"/>
                </a:solidFill>
                <a:effectLst/>
                <a:uFillTx/>
                <a:latin typeface="Calibri"/>
              </a:rPr>
              <a:t>AgroSense Analytics  ·  Real-Time Smart Farm Monitoring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B1F0F"/>
          </a:solidFill>
          <a:ln>
            <a:solidFill>
              <a:srgbClr val="0B1F0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6" name="Rectangle 2"/>
          <p:cNvSpPr/>
          <p:nvPr/>
        </p:nvSpPr>
        <p:spPr>
          <a:xfrm>
            <a:off x="0" y="0"/>
            <a:ext cx="12188520" cy="685440"/>
          </a:xfrm>
          <a:prstGeom prst="rect">
            <a:avLst/>
          </a:prstGeom>
          <a:solidFill>
            <a:srgbClr val="0F3D1F"/>
          </a:solidFill>
          <a:ln>
            <a:solidFill>
              <a:srgbClr val="0F3D1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7" name="TextBox 3"/>
          <p:cNvSpPr/>
          <p:nvPr/>
        </p:nvSpPr>
        <p:spPr>
          <a:xfrm>
            <a:off x="365760" y="164520"/>
            <a:ext cx="10972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CHALLENGES &amp; SOLUTIONS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Rectangle 4"/>
          <p:cNvSpPr/>
          <p:nvPr/>
        </p:nvSpPr>
        <p:spPr>
          <a:xfrm>
            <a:off x="0" y="685800"/>
            <a:ext cx="12188520" cy="36360"/>
          </a:xfrm>
          <a:prstGeom prst="rect">
            <a:avLst/>
          </a:prstGeom>
          <a:solidFill>
            <a:srgbClr val="00E5A0"/>
          </a:solidFill>
          <a:ln>
            <a:solidFill>
              <a:srgbClr val="00E5A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9" name="Rectangle 5"/>
          <p:cNvSpPr/>
          <p:nvPr/>
        </p:nvSpPr>
        <p:spPr>
          <a:xfrm>
            <a:off x="320040" y="896040"/>
            <a:ext cx="11548440" cy="91404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0" name="Rectangle 6"/>
          <p:cNvSpPr/>
          <p:nvPr/>
        </p:nvSpPr>
        <p:spPr>
          <a:xfrm>
            <a:off x="320040" y="896040"/>
            <a:ext cx="54360" cy="914040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1" name="TextBox 7"/>
          <p:cNvSpPr/>
          <p:nvPr/>
        </p:nvSpPr>
        <p:spPr>
          <a:xfrm>
            <a:off x="530280" y="960120"/>
            <a:ext cx="411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87171"/>
                </a:solidFill>
                <a:effectLst/>
                <a:uFillTx/>
                <a:latin typeface="Calibri"/>
              </a:rPr>
              <a:t>BigQuery Streaming 403 Error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Box 8"/>
          <p:cNvSpPr/>
          <p:nvPr/>
        </p:nvSpPr>
        <p:spPr>
          <a:xfrm>
            <a:off x="530280" y="1298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B8499"/>
                </a:solidFill>
                <a:effectLst/>
                <a:uFillTx/>
                <a:latin typeface="Calibri"/>
              </a:rPr>
              <a:t>⚠  insert_rows_json() requires paid billing tier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Rectangle 9"/>
          <p:cNvSpPr/>
          <p:nvPr/>
        </p:nvSpPr>
        <p:spPr>
          <a:xfrm>
            <a:off x="6035040" y="969120"/>
            <a:ext cx="548280" cy="255600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4" name="TextBox 10"/>
          <p:cNvSpPr/>
          <p:nvPr/>
        </p:nvSpPr>
        <p:spPr>
          <a:xfrm>
            <a:off x="6035040" y="969120"/>
            <a:ext cx="54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50" b="1" u="none" strike="noStrike">
                <a:solidFill>
                  <a:srgbClr val="0B1F0F"/>
                </a:solidFill>
                <a:effectLst/>
                <a:uFillTx/>
                <a:latin typeface="Calibri"/>
              </a:rPr>
              <a:t>FIX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Box 11"/>
          <p:cNvSpPr/>
          <p:nvPr/>
        </p:nvSpPr>
        <p:spPr>
          <a:xfrm>
            <a:off x="6720840" y="969120"/>
            <a:ext cx="50288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Switched to load_table_from_json() — free LoadJob API. 5 rows/30s batch insert.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Rectangle 12"/>
          <p:cNvSpPr/>
          <p:nvPr/>
        </p:nvSpPr>
        <p:spPr>
          <a:xfrm>
            <a:off x="320040" y="1920240"/>
            <a:ext cx="11548440" cy="91404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7" name="Rectangle 13"/>
          <p:cNvSpPr/>
          <p:nvPr/>
        </p:nvSpPr>
        <p:spPr>
          <a:xfrm>
            <a:off x="320040" y="1920240"/>
            <a:ext cx="54360" cy="914040"/>
          </a:xfrm>
          <a:prstGeom prst="rect">
            <a:avLst/>
          </a:prstGeom>
          <a:solidFill>
            <a:srgbClr val="FBBF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8" name="TextBox 14"/>
          <p:cNvSpPr/>
          <p:nvPr/>
        </p:nvSpPr>
        <p:spPr>
          <a:xfrm>
            <a:off x="530280" y="1984320"/>
            <a:ext cx="411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BBF24"/>
                </a:solidFill>
                <a:effectLst/>
                <a:uFillTx/>
                <a:latin typeface="Calibri"/>
              </a:rPr>
              <a:t>External Table (Read-Only)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Box 15"/>
          <p:cNvSpPr/>
          <p:nvPr/>
        </p:nvSpPr>
        <p:spPr>
          <a:xfrm>
            <a:off x="530280" y="23227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B8499"/>
                </a:solidFill>
                <a:effectLst/>
                <a:uFillTx/>
                <a:latin typeface="Calibri"/>
              </a:rPr>
              <a:t>⚠  Google Sheets link created EXTERNAL table type — inserts blocked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Rectangle 16"/>
          <p:cNvSpPr/>
          <p:nvPr/>
        </p:nvSpPr>
        <p:spPr>
          <a:xfrm>
            <a:off x="6035040" y="1993320"/>
            <a:ext cx="548280" cy="255600"/>
          </a:xfrm>
          <a:prstGeom prst="rect">
            <a:avLst/>
          </a:prstGeom>
          <a:solidFill>
            <a:srgbClr val="FBBF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1" name="TextBox 17"/>
          <p:cNvSpPr/>
          <p:nvPr/>
        </p:nvSpPr>
        <p:spPr>
          <a:xfrm>
            <a:off x="6035040" y="1993320"/>
            <a:ext cx="54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50" b="1" u="none" strike="noStrike">
                <a:solidFill>
                  <a:srgbClr val="0B1F0F"/>
                </a:solidFill>
                <a:effectLst/>
                <a:uFillTx/>
                <a:latin typeface="Calibri"/>
              </a:rPr>
              <a:t>FIX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Box 18"/>
          <p:cNvSpPr/>
          <p:nvPr/>
        </p:nvSpPr>
        <p:spPr>
          <a:xfrm>
            <a:off x="6720840" y="1993320"/>
            <a:ext cx="50288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Deleted external table, recreated as native TABLE with JSON schema, reloaded CSV.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Rectangle 19"/>
          <p:cNvSpPr/>
          <p:nvPr/>
        </p:nvSpPr>
        <p:spPr>
          <a:xfrm>
            <a:off x="320040" y="2944440"/>
            <a:ext cx="11548440" cy="91404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4" name="Rectangle 20"/>
          <p:cNvSpPr/>
          <p:nvPr/>
        </p:nvSpPr>
        <p:spPr>
          <a:xfrm>
            <a:off x="320040" y="2944440"/>
            <a:ext cx="54360" cy="914040"/>
          </a:xfrm>
          <a:prstGeom prst="rect">
            <a:avLst/>
          </a:prstGeom>
          <a:solidFill>
            <a:srgbClr val="00E5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5" name="TextBox 21"/>
          <p:cNvSpPr/>
          <p:nvPr/>
        </p:nvSpPr>
        <p:spPr>
          <a:xfrm>
            <a:off x="530280" y="3008520"/>
            <a:ext cx="411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Crop Name Mismatch Across Datasets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Box 22"/>
          <p:cNvSpPr/>
          <p:nvPr/>
        </p:nvSpPr>
        <p:spPr>
          <a:xfrm>
            <a:off x="530280" y="334656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B8499"/>
                </a:solidFill>
                <a:effectLst/>
                <a:uFillTx/>
                <a:latin typeface="Calibri"/>
              </a:rPr>
              <a:t>⚠  'Corn' in irrigation CSV, 'Maize' in yield CSV, 'maize' in rec. CSV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Rectangle 23"/>
          <p:cNvSpPr/>
          <p:nvPr/>
        </p:nvSpPr>
        <p:spPr>
          <a:xfrm>
            <a:off x="6035040" y="3017520"/>
            <a:ext cx="548280" cy="255600"/>
          </a:xfrm>
          <a:prstGeom prst="rect">
            <a:avLst/>
          </a:prstGeom>
          <a:solidFill>
            <a:srgbClr val="00E5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8" name="TextBox 24"/>
          <p:cNvSpPr/>
          <p:nvPr/>
        </p:nvSpPr>
        <p:spPr>
          <a:xfrm>
            <a:off x="6035040" y="3017520"/>
            <a:ext cx="54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50" b="1" u="none" strike="noStrike">
                <a:solidFill>
                  <a:srgbClr val="0B1F0F"/>
                </a:solidFill>
                <a:effectLst/>
                <a:uFillTx/>
                <a:latin typeface="Calibri"/>
              </a:rPr>
              <a:t>FIX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Box 25"/>
          <p:cNvSpPr/>
          <p:nvPr/>
        </p:nvSpPr>
        <p:spPr>
          <a:xfrm>
            <a:off x="6720840" y="3017520"/>
            <a:ext cx="50288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Standardized to title-case 'Maize' in ETL: df['crop_type'].str.title()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Rectangle 26"/>
          <p:cNvSpPr/>
          <p:nvPr/>
        </p:nvSpPr>
        <p:spPr>
          <a:xfrm>
            <a:off x="320040" y="3968640"/>
            <a:ext cx="11548440" cy="91404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1" name="Rectangle 27"/>
          <p:cNvSpPr/>
          <p:nvPr/>
        </p:nvSpPr>
        <p:spPr>
          <a:xfrm>
            <a:off x="320040" y="3968640"/>
            <a:ext cx="54360" cy="91404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2" name="TextBox 28"/>
          <p:cNvSpPr/>
          <p:nvPr/>
        </p:nvSpPr>
        <p:spPr>
          <a:xfrm>
            <a:off x="530280" y="4032360"/>
            <a:ext cx="411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Wheat &amp; Soybean Missing from Rec. Dataset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Box 29"/>
          <p:cNvSpPr/>
          <p:nvPr/>
        </p:nvSpPr>
        <p:spPr>
          <a:xfrm>
            <a:off x="530280" y="437076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B8499"/>
                </a:solidFill>
                <a:effectLst/>
                <a:uFillTx/>
                <a:latin typeface="Calibri"/>
              </a:rPr>
              <a:t>⚠  Original India-only Crop_recommendation.csv lacked Wheat and Soybean rows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Rectangle 30"/>
          <p:cNvSpPr/>
          <p:nvPr/>
        </p:nvSpPr>
        <p:spPr>
          <a:xfrm>
            <a:off x="6035040" y="4041720"/>
            <a:ext cx="548280" cy="2556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5" name="TextBox 31"/>
          <p:cNvSpPr/>
          <p:nvPr/>
        </p:nvSpPr>
        <p:spPr>
          <a:xfrm>
            <a:off x="6035040" y="4041720"/>
            <a:ext cx="54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50" b="1" u="none" strike="noStrike">
                <a:solidFill>
                  <a:srgbClr val="0B1F0F"/>
                </a:solidFill>
                <a:effectLst/>
                <a:uFillTx/>
                <a:latin typeface="Calibri"/>
              </a:rPr>
              <a:t>FIX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Box 32"/>
          <p:cNvSpPr/>
          <p:nvPr/>
        </p:nvSpPr>
        <p:spPr>
          <a:xfrm>
            <a:off x="6720840" y="4041720"/>
            <a:ext cx="50288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Generated Crop_recommendation_multiregion.csv — 2,500 rows across 5 regions.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Rectangle 33"/>
          <p:cNvSpPr/>
          <p:nvPr/>
        </p:nvSpPr>
        <p:spPr>
          <a:xfrm>
            <a:off x="320040" y="4992480"/>
            <a:ext cx="11548440" cy="91404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8" name="Rectangle 34"/>
          <p:cNvSpPr/>
          <p:nvPr/>
        </p:nvSpPr>
        <p:spPr>
          <a:xfrm>
            <a:off x="320040" y="4992480"/>
            <a:ext cx="54360" cy="914040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9" name="TextBox 35"/>
          <p:cNvSpPr/>
          <p:nvPr/>
        </p:nvSpPr>
        <p:spPr>
          <a:xfrm>
            <a:off x="530280" y="5056560"/>
            <a:ext cx="411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87171"/>
                </a:solidFill>
                <a:effectLst/>
                <a:uFillTx/>
                <a:latin typeface="Calibri"/>
              </a:rPr>
              <a:t>datetime.utcnow() DeprecationWarning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Box 36"/>
          <p:cNvSpPr/>
          <p:nvPr/>
        </p:nvSpPr>
        <p:spPr>
          <a:xfrm>
            <a:off x="530280" y="539496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B8499"/>
                </a:solidFill>
                <a:effectLst/>
                <a:uFillTx/>
                <a:latin typeface="Calibri"/>
              </a:rPr>
              <a:t>⚠  Python 3.12 deprecated datetime.utcnow() causing warnings on every insert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Rectangle 37"/>
          <p:cNvSpPr/>
          <p:nvPr/>
        </p:nvSpPr>
        <p:spPr>
          <a:xfrm>
            <a:off x="6035040" y="5065920"/>
            <a:ext cx="548280" cy="255600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2" name="TextBox 38"/>
          <p:cNvSpPr/>
          <p:nvPr/>
        </p:nvSpPr>
        <p:spPr>
          <a:xfrm>
            <a:off x="6035040" y="5065920"/>
            <a:ext cx="54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50" b="1" u="none" strike="noStrike">
                <a:solidFill>
                  <a:srgbClr val="0B1F0F"/>
                </a:solidFill>
                <a:effectLst/>
                <a:uFillTx/>
                <a:latin typeface="Calibri"/>
              </a:rPr>
              <a:t>FIX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Box 39"/>
          <p:cNvSpPr/>
          <p:nvPr/>
        </p:nvSpPr>
        <p:spPr>
          <a:xfrm>
            <a:off x="6720840" y="5065920"/>
            <a:ext cx="50288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Replaced with datetime.now(timezone.utc).strftime() — fully timezone-aware.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Rectangle 40"/>
          <p:cNvSpPr/>
          <p:nvPr/>
        </p:nvSpPr>
        <p:spPr>
          <a:xfrm>
            <a:off x="0" y="6355080"/>
            <a:ext cx="12188520" cy="502560"/>
          </a:xfrm>
          <a:prstGeom prst="rect">
            <a:avLst/>
          </a:prstGeom>
          <a:solidFill>
            <a:srgbClr val="07140A"/>
          </a:solidFill>
          <a:ln>
            <a:solidFill>
              <a:srgbClr val="07140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5" name="TextBox 41"/>
          <p:cNvSpPr/>
          <p:nvPr/>
        </p:nvSpPr>
        <p:spPr>
          <a:xfrm>
            <a:off x="274320" y="6400800"/>
            <a:ext cx="11612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B8499"/>
                </a:solidFill>
                <a:effectLst/>
                <a:uFillTx/>
                <a:latin typeface="Calibri"/>
              </a:rPr>
              <a:t>AgroSense Analytics  ·  Real-Time Smart Farm Monitoring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B1F0F"/>
          </a:solidFill>
          <a:ln>
            <a:solidFill>
              <a:srgbClr val="0B1F0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7" name="Rectangle 2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B1F0F"/>
          </a:solidFill>
          <a:ln>
            <a:solidFill>
              <a:srgbClr val="0B1F0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8" name="Rectangle 3"/>
          <p:cNvSpPr/>
          <p:nvPr/>
        </p:nvSpPr>
        <p:spPr>
          <a:xfrm>
            <a:off x="0" y="0"/>
            <a:ext cx="12188520" cy="685440"/>
          </a:xfrm>
          <a:prstGeom prst="rect">
            <a:avLst/>
          </a:prstGeom>
          <a:solidFill>
            <a:srgbClr val="0F3D1F"/>
          </a:solidFill>
          <a:ln>
            <a:solidFill>
              <a:srgbClr val="0F3D1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9" name="TextBox 4"/>
          <p:cNvSpPr/>
          <p:nvPr/>
        </p:nvSpPr>
        <p:spPr>
          <a:xfrm>
            <a:off x="365760" y="164520"/>
            <a:ext cx="10972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CONCLUSION &amp; FUTURE SCOPE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Rectangle 5"/>
          <p:cNvSpPr/>
          <p:nvPr/>
        </p:nvSpPr>
        <p:spPr>
          <a:xfrm>
            <a:off x="0" y="685800"/>
            <a:ext cx="12188520" cy="36360"/>
          </a:xfrm>
          <a:prstGeom prst="rect">
            <a:avLst/>
          </a:prstGeom>
          <a:solidFill>
            <a:srgbClr val="00E5A0"/>
          </a:solidFill>
          <a:ln>
            <a:solidFill>
              <a:srgbClr val="00E5A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1" name="Rectangle 6"/>
          <p:cNvSpPr/>
          <p:nvPr/>
        </p:nvSpPr>
        <p:spPr>
          <a:xfrm>
            <a:off x="320040" y="914400"/>
            <a:ext cx="5394600" cy="512028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2" name="Rectangle 7"/>
          <p:cNvSpPr/>
          <p:nvPr/>
        </p:nvSpPr>
        <p:spPr>
          <a:xfrm>
            <a:off x="320040" y="914400"/>
            <a:ext cx="54360" cy="5120280"/>
          </a:xfrm>
          <a:prstGeom prst="rect">
            <a:avLst/>
          </a:prstGeom>
          <a:solidFill>
            <a:srgbClr val="00E5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3" name="TextBox 8"/>
          <p:cNvSpPr/>
          <p:nvPr/>
        </p:nvSpPr>
        <p:spPr>
          <a:xfrm>
            <a:off x="548640" y="1005840"/>
            <a:ext cx="5028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E5A0"/>
                </a:solidFill>
                <a:effectLst/>
                <a:uFillTx/>
                <a:latin typeface="Calibri"/>
              </a:rPr>
              <a:t>What We Achieved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Box 9"/>
          <p:cNvSpPr/>
          <p:nvPr/>
        </p:nvSpPr>
        <p:spPr>
          <a:xfrm>
            <a:off x="548640" y="1481400"/>
            <a:ext cx="5074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✓  End-to-end IoT pipeline from CSV → BigQuery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Box 10"/>
          <p:cNvSpPr/>
          <p:nvPr/>
        </p:nvSpPr>
        <p:spPr>
          <a:xfrm>
            <a:off x="548640" y="1920240"/>
            <a:ext cx="5074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✓  Live stream: 5 rows/30s, 240 rows/hour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TextBox 11"/>
          <p:cNvSpPr/>
          <p:nvPr/>
        </p:nvSpPr>
        <p:spPr>
          <a:xfrm>
            <a:off x="548640" y="2359080"/>
            <a:ext cx="5074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✓  6-table star schema with PK/FK constraints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Box 12"/>
          <p:cNvSpPr/>
          <p:nvPr/>
        </p:nvSpPr>
        <p:spPr>
          <a:xfrm>
            <a:off x="548640" y="2797920"/>
            <a:ext cx="5074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✓  IQR anomaly detection across 3 sensor metrics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Box 13"/>
          <p:cNvSpPr/>
          <p:nvPr/>
        </p:nvSpPr>
        <p:spPr>
          <a:xfrm>
            <a:off x="548640" y="3237120"/>
            <a:ext cx="5074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✓  ET₀ computation using FAO-56 Hargreaves formula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Box 14"/>
          <p:cNvSpPr/>
          <p:nvPr/>
        </p:nvSpPr>
        <p:spPr>
          <a:xfrm>
            <a:off x="548640" y="3675960"/>
            <a:ext cx="5074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✓  Multi-region crop recommendation dataset (2,500 rows)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TextBox 15"/>
          <p:cNvSpPr/>
          <p:nvPr/>
        </p:nvSpPr>
        <p:spPr>
          <a:xfrm>
            <a:off x="548640" y="4114800"/>
            <a:ext cx="5074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✓  5 analytical views for Looker Studio connection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TextBox 16"/>
          <p:cNvSpPr/>
          <p:nvPr/>
        </p:nvSpPr>
        <p:spPr>
          <a:xfrm>
            <a:off x="548640" y="4553640"/>
            <a:ext cx="5074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✓  Interactive live dashboard with zone filters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TextBox 17"/>
          <p:cNvSpPr/>
          <p:nvPr/>
        </p:nvSpPr>
        <p:spPr>
          <a:xfrm>
            <a:off x="548640" y="4992480"/>
            <a:ext cx="5074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✓  Free-tier BigQuery pipeline — zero billing cost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Box 18"/>
          <p:cNvSpPr/>
          <p:nvPr/>
        </p:nvSpPr>
        <p:spPr>
          <a:xfrm>
            <a:off x="548640" y="5431680"/>
            <a:ext cx="5074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✓  Graceful shutdown &amp; error handling in scheduler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Rectangle 19"/>
          <p:cNvSpPr/>
          <p:nvPr/>
        </p:nvSpPr>
        <p:spPr>
          <a:xfrm>
            <a:off x="5989320" y="914400"/>
            <a:ext cx="5879160" cy="242280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5" name="Rectangle 20"/>
          <p:cNvSpPr/>
          <p:nvPr/>
        </p:nvSpPr>
        <p:spPr>
          <a:xfrm>
            <a:off x="5989320" y="914400"/>
            <a:ext cx="54360" cy="24228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6" name="TextBox 21"/>
          <p:cNvSpPr/>
          <p:nvPr/>
        </p:nvSpPr>
        <p:spPr>
          <a:xfrm>
            <a:off x="6217920" y="1005840"/>
            <a:ext cx="5486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Future Enhancements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Box 22"/>
          <p:cNvSpPr/>
          <p:nvPr/>
        </p:nvSpPr>
        <p:spPr>
          <a:xfrm>
            <a:off x="6217920" y="1481400"/>
            <a:ext cx="5486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→  ML crop recommendation model (Random Forest, 97%+ accuracy)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TextBox 23"/>
          <p:cNvSpPr/>
          <p:nvPr/>
        </p:nvSpPr>
        <p:spPr>
          <a:xfrm>
            <a:off x="6217920" y="1901880"/>
            <a:ext cx="5486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→  Real IoT sensors with MQTT protocol integration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TextBox 24"/>
          <p:cNvSpPr/>
          <p:nvPr/>
        </p:nvSpPr>
        <p:spPr>
          <a:xfrm>
            <a:off x="6217920" y="2322720"/>
            <a:ext cx="5486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→  Automated irrigation control based on ET₀ threshold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Box 25"/>
          <p:cNvSpPr/>
          <p:nvPr/>
        </p:nvSpPr>
        <p:spPr>
          <a:xfrm>
            <a:off x="6217920" y="2743200"/>
            <a:ext cx="5486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→  Mobile alert system via Firebase push notifications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Box 26"/>
          <p:cNvSpPr/>
          <p:nvPr/>
        </p:nvSpPr>
        <p:spPr>
          <a:xfrm>
            <a:off x="6217920" y="3163680"/>
            <a:ext cx="5486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→  Time-series forecasting for yield prediction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Box 27"/>
          <p:cNvSpPr/>
          <p:nvPr/>
        </p:nvSpPr>
        <p:spPr>
          <a:xfrm>
            <a:off x="6217920" y="3584520"/>
            <a:ext cx="5486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→  Multi-season data warehouse with historical trends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Rectangle 28"/>
          <p:cNvSpPr/>
          <p:nvPr/>
        </p:nvSpPr>
        <p:spPr>
          <a:xfrm>
            <a:off x="5989320" y="3493080"/>
            <a:ext cx="5879160" cy="2541600"/>
          </a:xfrm>
          <a:prstGeom prst="rect">
            <a:avLst/>
          </a:prstGeom>
          <a:solidFill>
            <a:srgbClr val="0D2818"/>
          </a:solidFill>
          <a:ln>
            <a:solidFill>
              <a:srgbClr val="1D3A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4" name="Rectangle 29"/>
          <p:cNvSpPr/>
          <p:nvPr/>
        </p:nvSpPr>
        <p:spPr>
          <a:xfrm>
            <a:off x="5989320" y="3493080"/>
            <a:ext cx="54360" cy="2541600"/>
          </a:xfrm>
          <a:prstGeom prst="rect">
            <a:avLst/>
          </a:prstGeom>
          <a:solidFill>
            <a:srgbClr val="FBBF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5" name="TextBox 30"/>
          <p:cNvSpPr/>
          <p:nvPr/>
        </p:nvSpPr>
        <p:spPr>
          <a:xfrm>
            <a:off x="6217920" y="358452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BBF24"/>
                </a:solidFill>
                <a:effectLst/>
                <a:uFillTx/>
                <a:latin typeface="Calibri"/>
              </a:rPr>
              <a:t>Skills Demonstrated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Box 31"/>
          <p:cNvSpPr/>
          <p:nvPr/>
        </p:nvSpPr>
        <p:spPr>
          <a:xfrm>
            <a:off x="6217920" y="400500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BBF24"/>
                </a:solidFill>
                <a:effectLst/>
                <a:uFillTx/>
                <a:latin typeface="Calibri"/>
              </a:rPr>
              <a:t>Data Engineering: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TextBox 32"/>
          <p:cNvSpPr/>
          <p:nvPr/>
        </p:nvSpPr>
        <p:spPr>
          <a:xfrm>
            <a:off x="8138160" y="400500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ETL pipeline, schema design, BigQuery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TextBox 33"/>
          <p:cNvSpPr/>
          <p:nvPr/>
        </p:nvSpPr>
        <p:spPr>
          <a:xfrm>
            <a:off x="6217920" y="438912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BBF24"/>
                </a:solidFill>
                <a:effectLst/>
                <a:uFillTx/>
                <a:latin typeface="Calibri"/>
              </a:rPr>
              <a:t>Cloud Computing: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TextBox 34"/>
          <p:cNvSpPr/>
          <p:nvPr/>
        </p:nvSpPr>
        <p:spPr>
          <a:xfrm>
            <a:off x="8138160" y="438912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GCP, BigQuery, service accounts, IAM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Box 35"/>
          <p:cNvSpPr/>
          <p:nvPr/>
        </p:nvSpPr>
        <p:spPr>
          <a:xfrm>
            <a:off x="6217920" y="477324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BBF24"/>
                </a:solidFill>
                <a:effectLst/>
                <a:uFillTx/>
                <a:latin typeface="Calibri"/>
              </a:rPr>
              <a:t>Python: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Box 36"/>
          <p:cNvSpPr/>
          <p:nvPr/>
        </p:nvSpPr>
        <p:spPr>
          <a:xfrm>
            <a:off x="8138160" y="477324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pandas, scheduling, API integration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TextBox 37"/>
          <p:cNvSpPr/>
          <p:nvPr/>
        </p:nvSpPr>
        <p:spPr>
          <a:xfrm>
            <a:off x="6217920" y="515736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BBF24"/>
                </a:solidFill>
                <a:effectLst/>
                <a:uFillTx/>
                <a:latin typeface="Calibri"/>
              </a:rPr>
              <a:t>Data Analytics: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TextBox 38"/>
          <p:cNvSpPr/>
          <p:nvPr/>
        </p:nvSpPr>
        <p:spPr>
          <a:xfrm>
            <a:off x="8138160" y="515736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KPI design, anomaly detection, ET0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TextBox 39"/>
          <p:cNvSpPr/>
          <p:nvPr/>
        </p:nvSpPr>
        <p:spPr>
          <a:xfrm>
            <a:off x="6217920" y="554112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BBF24"/>
                </a:solidFill>
                <a:effectLst/>
                <a:uFillTx/>
                <a:latin typeface="Calibri"/>
              </a:rPr>
              <a:t>Visualization: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Box 40"/>
          <p:cNvSpPr/>
          <p:nvPr/>
        </p:nvSpPr>
        <p:spPr>
          <a:xfrm>
            <a:off x="8138160" y="554112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DCE8F0"/>
                </a:solidFill>
                <a:effectLst/>
                <a:uFillTx/>
                <a:latin typeface="Calibri"/>
              </a:rPr>
              <a:t>Looker Studio, live dashboard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Rectangle 41"/>
          <p:cNvSpPr/>
          <p:nvPr/>
        </p:nvSpPr>
        <p:spPr>
          <a:xfrm>
            <a:off x="0" y="6172200"/>
            <a:ext cx="12188520" cy="685440"/>
          </a:xfrm>
          <a:prstGeom prst="rect">
            <a:avLst/>
          </a:prstGeom>
          <a:solidFill>
            <a:srgbClr val="00E5A0"/>
          </a:solidFill>
          <a:ln>
            <a:solidFill>
              <a:srgbClr val="00E5A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7" name="TextBox 42"/>
          <p:cNvSpPr/>
          <p:nvPr/>
        </p:nvSpPr>
        <p:spPr>
          <a:xfrm>
            <a:off x="274320" y="6236280"/>
            <a:ext cx="11612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B1F0F"/>
                </a:solidFill>
                <a:effectLst/>
                <a:uFillTx/>
                <a:latin typeface="Calibri"/>
              </a:rPr>
              <a:t>AgroSense Analytics — Powering Data-Driven Agriculture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LibreOffice/26.2.3.2$Windows_X86_64 LibreOffice_project/70e089b17412e4cb7773e41413306b17a2328c34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2026-05-28T11:25:46Z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